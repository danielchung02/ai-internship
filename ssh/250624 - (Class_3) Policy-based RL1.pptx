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7"/>
  </p:notesMasterIdLst>
  <p:sldIdLst>
    <p:sldId id="262" r:id="rId2"/>
    <p:sldId id="263" r:id="rId3"/>
    <p:sldId id="390" r:id="rId4"/>
    <p:sldId id="364" r:id="rId5"/>
    <p:sldId id="383" r:id="rId6"/>
    <p:sldId id="384" r:id="rId7"/>
    <p:sldId id="391" r:id="rId8"/>
    <p:sldId id="385" r:id="rId9"/>
    <p:sldId id="386" r:id="rId10"/>
    <p:sldId id="392" r:id="rId11"/>
    <p:sldId id="387" r:id="rId12"/>
    <p:sldId id="389" r:id="rId13"/>
    <p:sldId id="388" r:id="rId14"/>
    <p:sldId id="393" r:id="rId15"/>
    <p:sldId id="394" r:id="rId16"/>
  </p:sldIdLst>
  <p:sldSz cx="12192000" cy="6858000"/>
  <p:notesSz cx="6858000" cy="9144000"/>
  <p:embeddedFontLst>
    <p:embeddedFont>
      <p:font typeface="Cambria Math" panose="02040503050406030204" pitchFamily="18" charset="0"/>
      <p:regular r:id="rId18"/>
    </p:embeddedFont>
    <p:embeddedFont>
      <p:font typeface="맑은 고딕" panose="020B0503020000020004" pitchFamily="50" charset="-127"/>
      <p:regular r:id="rId19"/>
      <p:bold r:id="rId2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5B11"/>
    <a:srgbClr val="DEA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9" autoAdjust="0"/>
    <p:restoredTop sz="95857" autoAdjust="0"/>
  </p:normalViewPr>
  <p:slideViewPr>
    <p:cSldViewPr snapToGrid="0">
      <p:cViewPr varScale="1">
        <p:scale>
          <a:sx n="220" d="100"/>
          <a:sy n="220" d="100"/>
        </p:scale>
        <p:origin x="372" y="8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345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5310FB-2044-4E49-8098-26BDD0252A35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8E74A-2920-408D-AEF4-84FEB508C0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793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B48390-0DD5-47FD-95BE-64B7D6F3D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8CEBCA-401B-43C5-9F4F-11705DECB5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460595-7D2C-4DAA-B354-B0E198644A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D0BDA7-7F1A-4495-9F60-08D8FD172726}" type="datetime1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58C9E9-7B7E-42D3-AE54-F8D3E15A2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851266-0DC4-48DB-A154-1F4E01B7B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D6F1-E034-4063-A5F1-77C8142C54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631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0BA12D-8859-44B3-B79F-C02932A1C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AEF569-54D0-4383-B511-2188E67D1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526D4D-EAFA-40D6-9EF2-76B0BE2A32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6C3CC6-6202-45AE-BAB1-6ED6E0E3E944}" type="datetime1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9958FA-D603-4731-B380-081F3F71E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B14FF3-A21A-419B-A0D5-1B369A3DC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D6F1-E034-4063-A5F1-77C8142C54C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0567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AF7D9C-09D4-40A6-AD38-3A362CBEC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6B14CF-19AC-42AB-AAEC-BD9BFBFDA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87D4F5-2A8E-4D6B-A317-3403FDB860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CF1A30-D87D-4D91-ABB3-D877DB8DB6EF}" type="datetime1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D538B-132C-40A2-9F54-D86C37403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FD1E8E-0340-4598-BC31-4D35A207A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D6F1-E034-4063-A5F1-77C8142C54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74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2B70A9-96E1-4341-BB3F-6D18D2756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80E16D-3E7E-408F-9123-8F2C6B3BF0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99F60A-983C-488F-9141-C406ED0CB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6EFD13-4BF3-468D-8D19-A9EBEEFC04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9BF819-3EA1-4881-8265-CB26F4786B05}" type="datetime1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60B602-F26A-4AEE-82FC-BF51CDDAA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739FB4-1D77-4F8A-BD62-528B3CBE7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D6F1-E034-4063-A5F1-77C8142C54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359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22DE6-636C-4D54-913D-C9E985C97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26E83F-4F10-420B-BE85-7B6A0111F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F3EE31-2B5C-4154-A5B5-9E26A908F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11C5DD0-7981-48DA-B22A-E3BCB08953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07409B4-B113-4B06-8668-D34F35DA46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2D17815-E7EA-455D-AA8D-EA0F3A09DF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89EEDB-A81A-4579-BB50-7985237D7A30}" type="datetime1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D673F0D-1198-4738-88EF-7CB06E69D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2F4EC42-C3A7-40A3-AB48-6C1AB9137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D6F1-E034-4063-A5F1-77C8142C54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521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C621E3-F99F-4C00-BA4F-F4B5B4881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32D8A50-108A-48C8-A1AB-2315E01583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06B4C9-933B-4501-A5FD-A729EC7CC82D}" type="datetime1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E85D25A-FF55-4F93-B324-6DE1FECEB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B677A8-5686-40CB-B3BE-BA1F09403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D6F1-E034-4063-A5F1-77C8142C54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241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CC6319-1F41-4475-8604-EFB574940F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EBC8D1-89D3-49E7-A665-4B66775F501F}" type="datetime1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6760A4-8443-4A74-B93C-7577462F2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8D5CDB-576E-4F82-B963-E491FA675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D6F1-E034-4063-A5F1-77C8142C54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28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B4B85A-FCEE-43D1-A024-F96B1CE2A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BD824A-B45D-492E-A647-A48266851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17F329-009E-4F16-B11C-071EB59A9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65626C-5F75-4980-B439-086BF93F6E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D026E-F590-44E3-B462-210B4A0650B8}" type="datetime1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3B9C68-E1FF-42B5-A84C-5251131CA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377660-3A5D-4805-ABCB-DF30E508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D6F1-E034-4063-A5F1-77C8142C54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286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9F061A-EFDB-49C4-B9DD-6889BE32C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81C2976-455E-482F-90A2-3BAFBF5B5F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98366C-7785-4864-8914-CC47C90EA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0A23FF-271E-4959-9842-92CC6A3B2E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15B0DA-F2BA-406D-8F46-364E06F1A1A3}" type="datetime1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E1224A-B0F1-4346-8A5E-C483BE048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CAE67E-2ED5-4BF7-A38D-3467024F3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D6F1-E034-4063-A5F1-77C8142C54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162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B0EA5D-2437-4DD4-913B-1552EB9C5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B6A8C8-360B-4A61-A856-386855BD3E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0169C7-D471-4FC8-93B0-9CD2EB8207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0F54C4-C8D2-4CD0-A1C0-59B78614CB1F}" type="datetime1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C78B5E-B0EA-409B-BE0C-82ECC0D3E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ABCB79-849B-4EE7-876C-BD45A97B3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D6F1-E034-4063-A5F1-77C8142C54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772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930DA12-6093-450C-AAE7-987F086FAF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6E6102-A6F6-4C1F-AFCD-C49D9A20F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5B116A-7BC2-4752-B578-E5D1450D30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FA87E4-F5E0-46EA-9C5A-2ABA48CADCF9}" type="datetime1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02832D-59F8-453D-93DB-D0653872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0194C0-886D-428C-BFFC-31B3B2B8F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D6F1-E034-4063-A5F1-77C8142C54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683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303C7E-0298-4178-8F5E-D0D0DE89DA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12192000" cy="365125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6D6F1-E034-4063-A5F1-77C8142C54C5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/ 4</a:t>
            </a:r>
            <a:endParaRPr lang="ko-KR" altLang="en-US" dirty="0"/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C73A387-1168-4F19-A2C1-A66FDA09A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DE97C0-5801-40EE-893E-A9CC8FB54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3281" y="681037"/>
            <a:ext cx="11705440" cy="58118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71657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14350" indent="-514350" algn="l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+mj-lt"/>
        <a:buAutoNum type="arabicParenR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457200" algn="l" defTabSz="914400" rtl="0" eaLnBrk="1" latinLnBrk="0" hangingPunct="1">
        <a:lnSpc>
          <a:spcPct val="90000"/>
        </a:lnSpc>
        <a:spcBef>
          <a:spcPts val="500"/>
        </a:spcBef>
        <a:buFont typeface="+mj-ea"/>
        <a:buAutoNum type="circleNumDbPlain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14500" indent="-342900" algn="l" defTabSz="914400" rtl="0" eaLnBrk="1" latinLnBrk="0" hangingPunct="1">
        <a:lnSpc>
          <a:spcPct val="90000"/>
        </a:lnSpc>
        <a:spcBef>
          <a:spcPts val="500"/>
        </a:spcBef>
        <a:buFont typeface="+mj-lt"/>
        <a:buAutoNum type="alphaL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1003AD-2273-4EAA-A0F5-6342D8E5E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D6F1-E034-4063-A5F1-77C8142C54C5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9" name="부제목 5">
            <a:extLst>
              <a:ext uri="{FF2B5EF4-FFF2-40B4-BE49-F238E27FC236}">
                <a16:creationId xmlns:a16="http://schemas.microsoft.com/office/drawing/2014/main" id="{BF69507E-41D2-68B4-1350-9118902988CB}"/>
              </a:ext>
            </a:extLst>
          </p:cNvPr>
          <p:cNvSpPr txBox="1">
            <a:spLocks/>
          </p:cNvSpPr>
          <p:nvPr/>
        </p:nvSpPr>
        <p:spPr>
          <a:xfrm>
            <a:off x="3889696" y="3200400"/>
            <a:ext cx="4412609" cy="15226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ea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/>
              <a:t>Class</a:t>
            </a:r>
            <a:r>
              <a:rPr lang="ko-KR" altLang="en-US" b="1" dirty="0"/>
              <a:t> </a:t>
            </a:r>
            <a:r>
              <a:rPr lang="en-US" altLang="ko-KR" b="1" dirty="0"/>
              <a:t>3.</a:t>
            </a:r>
            <a:r>
              <a:rPr lang="ko-KR" altLang="en-US" b="1" dirty="0"/>
              <a:t> </a:t>
            </a:r>
            <a:r>
              <a:rPr lang="en-US" altLang="ko-KR" b="1" dirty="0"/>
              <a:t>Policy-based RL (1)</a:t>
            </a:r>
          </a:p>
        </p:txBody>
      </p:sp>
    </p:spTree>
    <p:extLst>
      <p:ext uri="{BB962C8B-B14F-4D97-AF65-F5344CB8AC3E}">
        <p14:creationId xmlns:p14="http://schemas.microsoft.com/office/powerpoint/2010/main" val="3875062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805B30-CBC8-4C9E-8C26-E0219EC56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/>
              <a:t>목차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92866B-D62C-4FF7-8884-F38F0F406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romanUcPeriod"/>
            </a:pPr>
            <a:r>
              <a:rPr lang="en-US" altLang="ko-KR" b="1" dirty="0"/>
              <a:t>Policy-based RL </a:t>
            </a:r>
            <a:r>
              <a:rPr lang="ko-KR" altLang="en-US" b="1" dirty="0"/>
              <a:t>소개</a:t>
            </a:r>
            <a:endParaRPr lang="en-US" altLang="ko-KR" b="1" dirty="0"/>
          </a:p>
          <a:p>
            <a:pPr>
              <a:buFont typeface="+mj-lt"/>
              <a:buAutoNum type="romanUcPeriod"/>
            </a:pPr>
            <a:r>
              <a:rPr lang="en-US" altLang="ko-KR" b="1" dirty="0"/>
              <a:t>REINFORCE</a:t>
            </a:r>
          </a:p>
          <a:p>
            <a:pPr>
              <a:buFont typeface="+mj-lt"/>
              <a:buAutoNum type="romanUcPeriod"/>
            </a:pPr>
            <a:r>
              <a:rPr lang="en-US" altLang="ko-KR" b="1" dirty="0"/>
              <a:t>A2C, A3C</a:t>
            </a:r>
          </a:p>
          <a:p>
            <a:pPr>
              <a:buFont typeface="+mj-lt"/>
              <a:buAutoNum type="romanUcPeriod"/>
            </a:pPr>
            <a:r>
              <a:rPr lang="en-US" altLang="ko-KR" b="1" dirty="0"/>
              <a:t>PPO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1F1A52-3468-40F5-8335-64809362C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D6F1-E034-4063-A5F1-77C8142C54C5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0826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2A250-445A-39E4-2CC5-E4DC021A7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22B97-1854-9B33-32A1-F6334376D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/>
              <a:t>목차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004C77-8AA4-6F40-EADB-44DA6FC1F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romanUcPeriod"/>
            </a:pPr>
            <a:r>
              <a:rPr lang="en-US" altLang="ko-KR" b="1" dirty="0"/>
              <a:t>Policy-based RL </a:t>
            </a:r>
            <a:r>
              <a:rPr lang="ko-KR" altLang="en-US" b="1" dirty="0"/>
              <a:t>소개</a:t>
            </a:r>
            <a:endParaRPr lang="en-US" altLang="ko-KR" b="1" dirty="0"/>
          </a:p>
          <a:p>
            <a:pPr>
              <a:buFont typeface="+mj-lt"/>
              <a:buAutoNum type="romanUcPeriod"/>
            </a:pP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</a:rPr>
              <a:t>REINFORCE</a:t>
            </a:r>
          </a:p>
          <a:p>
            <a:pPr>
              <a:buFont typeface="+mj-lt"/>
              <a:buAutoNum type="romanUcPeriod"/>
            </a:pP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</a:rPr>
              <a:t>A2C, A3C</a:t>
            </a:r>
          </a:p>
          <a:p>
            <a:pPr>
              <a:buFont typeface="+mj-lt"/>
              <a:buAutoNum type="romanUcPeriod"/>
            </a:pP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</a:rPr>
              <a:t>PPO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83AFB5-E829-2B2C-CBC6-176A52F10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D6F1-E034-4063-A5F1-77C8142C54C5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0217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805B30-CBC8-4C9E-8C26-E0219EC56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Ⅰ. Policy-based RL </a:t>
            </a:r>
            <a:r>
              <a:rPr lang="ko-KR" altLang="en-US" sz="3200" dirty="0"/>
              <a:t>소개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92866B-D62C-4FF7-8884-F38F0F406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b="1" dirty="0"/>
              <a:t>RL</a:t>
            </a:r>
            <a:r>
              <a:rPr lang="ko-KR" altLang="en-US" b="1" dirty="0"/>
              <a:t>의 목표 </a:t>
            </a:r>
            <a:r>
              <a:rPr lang="en-US" altLang="ko-KR" b="1" dirty="0"/>
              <a:t>: </a:t>
            </a:r>
            <a:r>
              <a:rPr lang="ko-KR" altLang="en-US" b="1" dirty="0"/>
              <a:t>보상의 총 합을 최대화 하는 </a:t>
            </a:r>
            <a:r>
              <a:rPr lang="ko-KR" altLang="en-US" b="1" dirty="0">
                <a:solidFill>
                  <a:srgbClr val="FF0000"/>
                </a:solidFill>
              </a:rPr>
              <a:t>행동 정책 </a:t>
            </a:r>
            <a:r>
              <a:rPr lang="en-US" altLang="ko-KR" b="1" dirty="0">
                <a:solidFill>
                  <a:srgbClr val="FF0000"/>
                </a:solidFill>
              </a:rPr>
              <a:t>(action policy)</a:t>
            </a:r>
            <a:r>
              <a:rPr lang="en-US" altLang="ko-KR" b="1" dirty="0"/>
              <a:t> </a:t>
            </a:r>
            <a:r>
              <a:rPr lang="ko-KR" altLang="en-US" b="1" dirty="0"/>
              <a:t>찾기</a:t>
            </a:r>
            <a:endParaRPr lang="en-US" altLang="ko-KR" b="1" dirty="0"/>
          </a:p>
          <a:p>
            <a:pPr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b="1" dirty="0"/>
              <a:t>접근법</a:t>
            </a:r>
            <a:endParaRPr lang="en-US" altLang="ko-KR" b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b="1" dirty="0"/>
              <a:t>가치</a:t>
            </a:r>
            <a:r>
              <a:rPr lang="en-US" altLang="ko-KR" b="1" dirty="0"/>
              <a:t>(Value)</a:t>
            </a:r>
            <a:r>
              <a:rPr lang="ko-KR" altLang="en-US" b="1" dirty="0"/>
              <a:t> 기반 방법 </a:t>
            </a:r>
            <a:r>
              <a:rPr lang="en-US" altLang="ko-KR" b="1" dirty="0"/>
              <a:t>: </a:t>
            </a:r>
            <a:r>
              <a:rPr lang="en-US" altLang="ko-KR" dirty="0"/>
              <a:t>Q</a:t>
            </a:r>
            <a:r>
              <a:rPr lang="ko-KR" altLang="en-US" dirty="0"/>
              <a:t> 또는 </a:t>
            </a:r>
            <a:r>
              <a:rPr lang="en-US" altLang="ko-KR" dirty="0"/>
              <a:t>V</a:t>
            </a:r>
            <a:r>
              <a:rPr lang="ko-KR" altLang="en-US" dirty="0"/>
              <a:t>와 같은 가치함수를 구하여 간접적으로 </a:t>
            </a:r>
            <a:r>
              <a:rPr lang="en-US" altLang="ko-KR" dirty="0"/>
              <a:t>(argmax</a:t>
            </a:r>
            <a:r>
              <a:rPr lang="ko-KR" altLang="en-US" dirty="0"/>
              <a:t>를 통해</a:t>
            </a:r>
            <a:r>
              <a:rPr lang="en-US" altLang="ko-KR" dirty="0"/>
              <a:t>) policy (π)</a:t>
            </a:r>
            <a:r>
              <a:rPr lang="ko-KR" altLang="en-US" dirty="0"/>
              <a:t>를 얻는 방법</a:t>
            </a:r>
            <a:r>
              <a:rPr lang="en-US" altLang="ko-K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b="1" dirty="0"/>
              <a:t>정책</a:t>
            </a:r>
            <a:r>
              <a:rPr lang="en-US" altLang="ko-KR" b="1" dirty="0"/>
              <a:t>(Policy) </a:t>
            </a:r>
            <a:r>
              <a:rPr lang="ko-KR" altLang="en-US" b="1" dirty="0"/>
              <a:t>기반 방법 </a:t>
            </a:r>
            <a:r>
              <a:rPr lang="en-US" altLang="ko-KR" b="1" dirty="0"/>
              <a:t>:</a:t>
            </a:r>
            <a:r>
              <a:rPr lang="en-US" altLang="ko-KR" dirty="0"/>
              <a:t> </a:t>
            </a:r>
            <a:r>
              <a:rPr lang="ko-KR" altLang="en-US" dirty="0"/>
              <a:t>직접 </a:t>
            </a:r>
            <a:r>
              <a:rPr lang="en-US" altLang="ko-KR" dirty="0"/>
              <a:t>policy (π)</a:t>
            </a:r>
            <a:r>
              <a:rPr lang="ko-KR" altLang="en-US" dirty="0"/>
              <a:t>를 </a:t>
            </a:r>
            <a:r>
              <a:rPr lang="en-US" altLang="ko-KR" dirty="0"/>
              <a:t>parameterize</a:t>
            </a:r>
            <a:r>
              <a:rPr lang="ko-KR" altLang="en-US" dirty="0"/>
              <a:t>하여 </a:t>
            </a:r>
            <a:r>
              <a:rPr lang="en-US" altLang="ko-KR" dirty="0"/>
              <a:t>policy</a:t>
            </a:r>
            <a:r>
              <a:rPr lang="ko-KR" altLang="en-US" dirty="0"/>
              <a:t>를 얻는다</a:t>
            </a:r>
            <a:r>
              <a:rPr lang="en-US" altLang="ko-KR" dirty="0"/>
              <a:t>. </a:t>
            </a:r>
            <a:r>
              <a:rPr lang="ko-KR" altLang="en-US" dirty="0"/>
              <a:t>이 때 </a:t>
            </a:r>
            <a:r>
              <a:rPr lang="en-US" altLang="ko-KR" dirty="0"/>
              <a:t>policy</a:t>
            </a:r>
            <a:r>
              <a:rPr lang="ko-KR" altLang="en-US" dirty="0"/>
              <a:t>는 확률분포로 표현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1F1A52-3468-40F5-8335-64809362C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D6F1-E034-4063-A5F1-77C8142C54C5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EAD53D-E2D0-424E-865E-0B95A7D7AB37}"/>
                  </a:ext>
                </a:extLst>
              </p:cNvPr>
              <p:cNvSpPr txBox="1"/>
              <p:nvPr/>
            </p:nvSpPr>
            <p:spPr>
              <a:xfrm>
                <a:off x="2839944" y="3771621"/>
                <a:ext cx="9203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EAD53D-E2D0-424E-865E-0B95A7D7A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944" y="3771621"/>
                <a:ext cx="920317" cy="369332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261B03-8CDB-4AC9-9894-DB8746116524}"/>
                  </a:ext>
                </a:extLst>
              </p:cNvPr>
              <p:cNvSpPr txBox="1"/>
              <p:nvPr/>
            </p:nvSpPr>
            <p:spPr>
              <a:xfrm>
                <a:off x="3678144" y="3061771"/>
                <a:ext cx="407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261B03-8CDB-4AC9-9894-DB8746116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8144" y="3061771"/>
                <a:ext cx="40761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39F2244-EA3B-49DD-A505-F168181D2225}"/>
              </a:ext>
            </a:extLst>
          </p:cNvPr>
          <p:cNvSpPr txBox="1"/>
          <p:nvPr/>
        </p:nvSpPr>
        <p:spPr>
          <a:xfrm>
            <a:off x="2201252" y="4626639"/>
            <a:ext cx="1598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(Value-based)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93331C-783D-4FA6-837D-13243AA42160}"/>
              </a:ext>
            </a:extLst>
          </p:cNvPr>
          <p:cNvSpPr txBox="1"/>
          <p:nvPr/>
        </p:nvSpPr>
        <p:spPr>
          <a:xfrm>
            <a:off x="4411052" y="4617416"/>
            <a:ext cx="163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</a:rPr>
              <a:t>(Policy-based)</a:t>
            </a:r>
            <a:endParaRPr lang="ko-KR" altLang="en-US" dirty="0">
              <a:solidFill>
                <a:srgbClr val="C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8D37CB9-2543-4082-B893-13315B62209C}"/>
              </a:ext>
            </a:extLst>
          </p:cNvPr>
          <p:cNvCxnSpPr>
            <a:stCxn id="15" idx="0"/>
            <a:endCxn id="13" idx="2"/>
          </p:cNvCxnSpPr>
          <p:nvPr/>
        </p:nvCxnSpPr>
        <p:spPr>
          <a:xfrm flipV="1">
            <a:off x="3000349" y="4140953"/>
            <a:ext cx="299754" cy="485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306E8DAE-0140-4E12-8354-5C7396DEA128}"/>
              </a:ext>
            </a:extLst>
          </p:cNvPr>
          <p:cNvCxnSpPr>
            <a:cxnSpLocks/>
            <a:stCxn id="13" idx="0"/>
            <a:endCxn id="14" idx="1"/>
          </p:cNvCxnSpPr>
          <p:nvPr/>
        </p:nvCxnSpPr>
        <p:spPr>
          <a:xfrm flipV="1">
            <a:off x="3300103" y="3246437"/>
            <a:ext cx="378041" cy="525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7EDFC8C-A010-49F0-9933-8A5835325811}"/>
              </a:ext>
            </a:extLst>
          </p:cNvPr>
          <p:cNvCxnSpPr>
            <a:cxnSpLocks/>
            <a:stCxn id="16" idx="0"/>
            <a:endCxn id="14" idx="3"/>
          </p:cNvCxnSpPr>
          <p:nvPr/>
        </p:nvCxnSpPr>
        <p:spPr>
          <a:xfrm flipH="1" flipV="1">
            <a:off x="4085756" y="3246437"/>
            <a:ext cx="1141545" cy="13709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C4AFAFA-98A6-9EB8-159E-643A8C2B81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755440"/>
              </p:ext>
            </p:extLst>
          </p:nvPr>
        </p:nvGraphicFramePr>
        <p:xfrm>
          <a:off x="756745" y="5207635"/>
          <a:ext cx="10527424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3712">
                  <a:extLst>
                    <a:ext uri="{9D8B030D-6E8A-4147-A177-3AD203B41FA5}">
                      <a16:colId xmlns:a16="http://schemas.microsoft.com/office/drawing/2014/main" val="504419632"/>
                    </a:ext>
                  </a:extLst>
                </a:gridCol>
                <a:gridCol w="5263712">
                  <a:extLst>
                    <a:ext uri="{9D8B030D-6E8A-4147-A177-3AD203B41FA5}">
                      <a16:colId xmlns:a16="http://schemas.microsoft.com/office/drawing/2014/main" val="22479281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장점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단점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10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수렴특성이 좋다</a:t>
                      </a:r>
                      <a:r>
                        <a:rPr lang="en-US" altLang="ko-KR" dirty="0"/>
                        <a:t>. (Q </a:t>
                      </a:r>
                      <a:r>
                        <a:rPr lang="ko-KR" altLang="en-US" dirty="0"/>
                        <a:t>같은 것은 크게 바뀐다</a:t>
                      </a:r>
                      <a:r>
                        <a:rPr lang="en-US" altLang="ko-KR" dirty="0"/>
                        <a:t>.)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고차원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연속 행동공간에서 효과적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확률적 </a:t>
                      </a:r>
                      <a:r>
                        <a:rPr lang="en-US" altLang="ko-KR" dirty="0"/>
                        <a:t>policy</a:t>
                      </a:r>
                      <a:r>
                        <a:rPr lang="ko-KR" altLang="en-US" dirty="0"/>
                        <a:t>를 배울 수 있다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0">
                        <a:buFontTx/>
                        <a:buChar char="-"/>
                      </a:pPr>
                      <a:r>
                        <a:rPr lang="en-US" altLang="ko-KR" dirty="0"/>
                        <a:t>Local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minima(maxima)</a:t>
                      </a:r>
                      <a:r>
                        <a:rPr lang="ko-KR" altLang="en-US" dirty="0"/>
                        <a:t>에 빠지는 경향이 있다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indent="-285750" latinLnBrk="0">
                        <a:buFontTx/>
                        <a:buChar char="-"/>
                      </a:pPr>
                      <a:r>
                        <a:rPr lang="ko-KR" altLang="en-US" dirty="0"/>
                        <a:t>정책 평가</a:t>
                      </a:r>
                      <a:r>
                        <a:rPr lang="en-US" altLang="ko-KR" dirty="0"/>
                        <a:t>(policy evaluation, V </a:t>
                      </a:r>
                      <a:r>
                        <a:rPr lang="ko-KR" altLang="en-US" dirty="0"/>
                        <a:t>얻기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가 비효율적이고 </a:t>
                      </a:r>
                      <a:r>
                        <a:rPr lang="en-US" altLang="ko-KR" dirty="0"/>
                        <a:t>variance</a:t>
                      </a:r>
                      <a:r>
                        <a:rPr lang="ko-KR" altLang="en-US" dirty="0"/>
                        <a:t> 크다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32017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1FA011E7-5C01-CEB8-03BA-957C9ABA4B4F}"/>
                  </a:ext>
                </a:extLst>
              </p:cNvPr>
              <p:cNvSpPr/>
              <p:nvPr/>
            </p:nvSpPr>
            <p:spPr>
              <a:xfrm>
                <a:off x="8031915" y="3516736"/>
                <a:ext cx="983738" cy="702051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1FA011E7-5C01-CEB8-03BA-957C9ABA4B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1915" y="3516736"/>
                <a:ext cx="983738" cy="7020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31E5E97-079E-885D-6EAE-63CAE259845B}"/>
              </a:ext>
            </a:extLst>
          </p:cNvPr>
          <p:cNvSpPr txBox="1"/>
          <p:nvPr/>
        </p:nvSpPr>
        <p:spPr>
          <a:xfrm>
            <a:off x="6964701" y="3544595"/>
            <a:ext cx="703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State</a:t>
            </a:r>
          </a:p>
          <a:p>
            <a:pPr algn="ctr"/>
            <a:r>
              <a:rPr lang="en-US" altLang="ko-KR" dirty="0"/>
              <a:t>(s)</a:t>
            </a:r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A63BE118-3ABE-965F-AE65-290B49624833}"/>
              </a:ext>
            </a:extLst>
          </p:cNvPr>
          <p:cNvCxnSpPr>
            <a:stCxn id="7" idx="3"/>
            <a:endCxn id="6" idx="1"/>
          </p:cNvCxnSpPr>
          <p:nvPr/>
        </p:nvCxnSpPr>
        <p:spPr>
          <a:xfrm>
            <a:off x="7668420" y="3867761"/>
            <a:ext cx="36349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30C3B0A-71B1-9457-CC91-EECF41CAC9EA}"/>
                  </a:ext>
                </a:extLst>
              </p:cNvPr>
              <p:cNvSpPr txBox="1"/>
              <p:nvPr/>
            </p:nvSpPr>
            <p:spPr>
              <a:xfrm>
                <a:off x="9258934" y="3394599"/>
                <a:ext cx="13723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Prob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30C3B0A-71B1-9457-CC91-EECF41CAC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8934" y="3394599"/>
                <a:ext cx="1372363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988C319-9FD2-1BAA-E29B-77AB028BCA00}"/>
                  </a:ext>
                </a:extLst>
              </p:cNvPr>
              <p:cNvSpPr txBox="1"/>
              <p:nvPr/>
            </p:nvSpPr>
            <p:spPr>
              <a:xfrm>
                <a:off x="9258933" y="3928655"/>
                <a:ext cx="16087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Prob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988C319-9FD2-1BAA-E29B-77AB028BC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8933" y="3928655"/>
                <a:ext cx="1608710" cy="369332"/>
              </a:xfrm>
              <a:prstGeom prst="rect">
                <a:avLst/>
              </a:prstGeom>
              <a:blipFill>
                <a:blip r:embed="rId6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47DA963-C867-90AC-D020-4CFF871C6C13}"/>
              </a:ext>
            </a:extLst>
          </p:cNvPr>
          <p:cNvCxnSpPr/>
          <p:nvPr/>
        </p:nvCxnSpPr>
        <p:spPr>
          <a:xfrm>
            <a:off x="9015653" y="3592135"/>
            <a:ext cx="36349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301587D7-9C7D-DB37-AF51-D449DBF4D2A3}"/>
              </a:ext>
            </a:extLst>
          </p:cNvPr>
          <p:cNvCxnSpPr/>
          <p:nvPr/>
        </p:nvCxnSpPr>
        <p:spPr>
          <a:xfrm>
            <a:off x="9015653" y="4136249"/>
            <a:ext cx="36349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2E5E67CA-33A2-3401-0538-ACCA32757BB9}"/>
              </a:ext>
            </a:extLst>
          </p:cNvPr>
          <p:cNvCxnSpPr/>
          <p:nvPr/>
        </p:nvCxnSpPr>
        <p:spPr>
          <a:xfrm>
            <a:off x="9015653" y="3847076"/>
            <a:ext cx="36349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80381768-1FEA-80E6-5DE0-E61E8F292FD4}"/>
              </a:ext>
            </a:extLst>
          </p:cNvPr>
          <p:cNvGrpSpPr/>
          <p:nvPr/>
        </p:nvGrpSpPr>
        <p:grpSpPr>
          <a:xfrm>
            <a:off x="9480267" y="3752399"/>
            <a:ext cx="72000" cy="208281"/>
            <a:chOff x="9401200" y="4982093"/>
            <a:chExt cx="72000" cy="208281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54BB2F84-F8AB-E13E-8B1E-1B4B5BCBF645}"/>
                </a:ext>
              </a:extLst>
            </p:cNvPr>
            <p:cNvSpPr/>
            <p:nvPr/>
          </p:nvSpPr>
          <p:spPr>
            <a:xfrm>
              <a:off x="9401200" y="4982093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BBB93AE2-824B-0D8A-92C0-D7071F15D054}"/>
                </a:ext>
              </a:extLst>
            </p:cNvPr>
            <p:cNvSpPr/>
            <p:nvPr/>
          </p:nvSpPr>
          <p:spPr>
            <a:xfrm>
              <a:off x="9401200" y="5118374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A8D064F6-733C-2190-8C84-BB5F429DF143}"/>
              </a:ext>
            </a:extLst>
          </p:cNvPr>
          <p:cNvSpPr txBox="1"/>
          <p:nvPr/>
        </p:nvSpPr>
        <p:spPr>
          <a:xfrm>
            <a:off x="7144235" y="4393361"/>
            <a:ext cx="3391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&lt;Discrete action space</a:t>
            </a:r>
            <a:r>
              <a:rPr lang="ko-KR" altLang="en-US" dirty="0"/>
              <a:t>인 경우</a:t>
            </a:r>
            <a:r>
              <a:rPr lang="en-US" altLang="ko-KR" dirty="0"/>
              <a:t>.</a:t>
            </a:r>
          </a:p>
          <a:p>
            <a:pPr algn="ctr"/>
            <a:r>
              <a:rPr lang="en-US" altLang="ko-KR" dirty="0"/>
              <a:t>Categorical</a:t>
            </a:r>
            <a:r>
              <a:rPr lang="ko-KR" altLang="en-US" dirty="0"/>
              <a:t> 분포 사용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2702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5208D-AA8F-25E5-1532-46838DB4F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86B38A-FBB4-FB19-D208-5B3DAC0AA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Ⅰ. Policy-based RL </a:t>
            </a:r>
            <a:r>
              <a:rPr lang="ko-KR" altLang="en-US" sz="3200" dirty="0"/>
              <a:t>소개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B1E0F0-F97C-A77E-3311-F8EBD6984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D6F1-E034-4063-A5F1-77C8142C54C5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C5F4F11-4F77-102B-49C7-247A763A6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32" y="2547784"/>
            <a:ext cx="5914368" cy="370998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B0CB1C4-E890-EFE7-74FB-70DA5AF36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130" y="2451795"/>
            <a:ext cx="5769671" cy="4030963"/>
          </a:xfrm>
          <a:prstGeom prst="rect">
            <a:avLst/>
          </a:prstGeom>
        </p:spPr>
      </p:pic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5AE12A0-868C-BC89-6D2D-28BEAF6FDA5B}"/>
              </a:ext>
            </a:extLst>
          </p:cNvPr>
          <p:cNvCxnSpPr/>
          <p:nvPr/>
        </p:nvCxnSpPr>
        <p:spPr>
          <a:xfrm>
            <a:off x="6156434" y="2108638"/>
            <a:ext cx="0" cy="4248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7A3E91B5-5DE6-F5F1-3FE7-E50BCF038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7248" y="676317"/>
            <a:ext cx="3910646" cy="196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130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499FB-5DF0-E404-6641-F5B56BE25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D075D9-90B9-43B5-1DCC-F4C21F9A1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Ⅰ. Policy-based RL </a:t>
            </a:r>
            <a:r>
              <a:rPr lang="ko-KR" altLang="en-US" sz="3200" dirty="0"/>
              <a:t>소개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60ADE3-0193-75FA-C6B1-66EF11871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ko-KR" altLang="en-US" b="1" dirty="0"/>
              <a:t>일반적인 형태 및 사용</a:t>
            </a:r>
            <a:endParaRPr lang="en-US" altLang="ko-KR" b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b="1" dirty="0"/>
              <a:t>분포를 예측한 뒤 </a:t>
            </a:r>
            <a:r>
              <a:rPr lang="en-US" altLang="ko-KR" b="1" dirty="0"/>
              <a:t>action</a:t>
            </a:r>
            <a:r>
              <a:rPr lang="ko-KR" altLang="en-US" b="1" dirty="0"/>
              <a:t>을 </a:t>
            </a:r>
            <a:r>
              <a:rPr lang="en-US" altLang="ko-KR" b="1" dirty="0"/>
              <a:t>sampling</a:t>
            </a:r>
            <a:r>
              <a:rPr lang="ko-KR" altLang="en-US" b="1" dirty="0"/>
              <a:t> 한다</a:t>
            </a:r>
            <a:r>
              <a:rPr lang="en-US" altLang="ko-KR" b="1" dirty="0"/>
              <a:t>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ko-KR" altLang="en-US" b="1" dirty="0"/>
              <a:t>이산 행동 공간 </a:t>
            </a:r>
            <a:r>
              <a:rPr lang="en-US" altLang="ko-KR" b="1" dirty="0"/>
              <a:t>: Categorical </a:t>
            </a:r>
            <a:r>
              <a:rPr lang="ko-KR" altLang="en-US" b="1" dirty="0"/>
              <a:t>분포 사용</a:t>
            </a:r>
            <a:endParaRPr lang="en-US" altLang="ko-KR" b="1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ko-KR" altLang="en-US" b="1" dirty="0"/>
              <a:t>연속 행동 공간 </a:t>
            </a:r>
            <a:r>
              <a:rPr lang="en-US" altLang="ko-KR" b="1" dirty="0"/>
              <a:t>: Gaussian </a:t>
            </a:r>
            <a:r>
              <a:rPr lang="ko-KR" altLang="en-US" b="1" dirty="0"/>
              <a:t>분포 사용</a:t>
            </a:r>
            <a:endParaRPr lang="en-US" altLang="ko-KR" b="1" dirty="0"/>
          </a:p>
          <a:p>
            <a:pPr lvl="2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b="1" dirty="0"/>
              <a:t>Validation </a:t>
            </a:r>
            <a:r>
              <a:rPr lang="ko-KR" altLang="en-US" b="1" dirty="0"/>
              <a:t>또는 </a:t>
            </a:r>
            <a:r>
              <a:rPr lang="en-US" altLang="ko-KR" b="1" dirty="0"/>
              <a:t>test</a:t>
            </a:r>
            <a:r>
              <a:rPr lang="ko-KR" altLang="en-US" b="1" dirty="0"/>
              <a:t>시 때에 따라서는 </a:t>
            </a:r>
            <a:r>
              <a:rPr lang="en-US" altLang="ko-KR" b="1" dirty="0"/>
              <a:t>deterministic </a:t>
            </a:r>
            <a:r>
              <a:rPr lang="ko-KR" altLang="en-US" b="1" dirty="0"/>
              <a:t>하게 하기도 한다</a:t>
            </a:r>
            <a:r>
              <a:rPr lang="en-US" altLang="ko-KR" b="1" dirty="0"/>
              <a:t>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ko-KR" altLang="en-US" b="1" dirty="0"/>
              <a:t>이산 행동 공간 </a:t>
            </a:r>
            <a:r>
              <a:rPr lang="en-US" altLang="ko-KR" b="1" dirty="0"/>
              <a:t>: Greedy </a:t>
            </a:r>
            <a:r>
              <a:rPr lang="ko-KR" altLang="en-US" b="1" dirty="0"/>
              <a:t>하게 </a:t>
            </a:r>
            <a:r>
              <a:rPr lang="en-US" altLang="ko-KR" b="1" dirty="0"/>
              <a:t>action </a:t>
            </a:r>
            <a:r>
              <a:rPr lang="ko-KR" altLang="en-US" b="1" dirty="0"/>
              <a:t>선택</a:t>
            </a:r>
            <a:endParaRPr lang="en-US" altLang="ko-KR" b="1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ko-KR" altLang="en-US" b="1" dirty="0"/>
              <a:t>연속 행동 공간 </a:t>
            </a:r>
            <a:r>
              <a:rPr lang="en-US" altLang="ko-KR" b="1" dirty="0"/>
              <a:t>: ‘mean’</a:t>
            </a:r>
            <a:r>
              <a:rPr lang="ko-KR" altLang="en-US" b="1" dirty="0"/>
              <a:t>을 그대로 사용</a:t>
            </a:r>
            <a:endParaRPr lang="en-US" altLang="ko-KR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B7DAE9-80CF-43BB-4D19-F9AA8F9AC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D6F1-E034-4063-A5F1-77C8142C54C5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47B9F598-F6E5-5943-CC80-5F99B73D9BFD}"/>
                  </a:ext>
                </a:extLst>
              </p:cNvPr>
              <p:cNvSpPr/>
              <p:nvPr/>
            </p:nvSpPr>
            <p:spPr>
              <a:xfrm>
                <a:off x="2458842" y="4517809"/>
                <a:ext cx="983738" cy="702051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47B9F598-F6E5-5943-CC80-5F99B73D9B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842" y="4517809"/>
                <a:ext cx="983738" cy="7020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8CFC334-78EF-C113-7773-0528B299336B}"/>
              </a:ext>
            </a:extLst>
          </p:cNvPr>
          <p:cNvSpPr txBox="1"/>
          <p:nvPr/>
        </p:nvSpPr>
        <p:spPr>
          <a:xfrm>
            <a:off x="1391628" y="4545668"/>
            <a:ext cx="703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State</a:t>
            </a:r>
          </a:p>
          <a:p>
            <a:pPr algn="ctr"/>
            <a:r>
              <a:rPr lang="en-US" altLang="ko-KR" dirty="0"/>
              <a:t>(s)</a:t>
            </a:r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845FC6BA-3071-A5B9-8D9C-31C928CDDED6}"/>
              </a:ext>
            </a:extLst>
          </p:cNvPr>
          <p:cNvCxnSpPr>
            <a:stCxn id="7" idx="3"/>
            <a:endCxn id="6" idx="1"/>
          </p:cNvCxnSpPr>
          <p:nvPr/>
        </p:nvCxnSpPr>
        <p:spPr>
          <a:xfrm>
            <a:off x="2095347" y="4868834"/>
            <a:ext cx="36349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A80678-39E9-77CD-8BD0-33170C321B81}"/>
                  </a:ext>
                </a:extLst>
              </p:cNvPr>
              <p:cNvSpPr txBox="1"/>
              <p:nvPr/>
            </p:nvSpPr>
            <p:spPr>
              <a:xfrm>
                <a:off x="3685861" y="4395672"/>
                <a:ext cx="13723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Prob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A80678-39E9-77CD-8BD0-33170C321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5861" y="4395672"/>
                <a:ext cx="1372363" cy="369332"/>
              </a:xfrm>
              <a:prstGeom prst="rect">
                <a:avLst/>
              </a:prstGeom>
              <a:blipFill>
                <a:blip r:embed="rId3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AF9E9B2-4590-8FEA-6139-94177182A18A}"/>
                  </a:ext>
                </a:extLst>
              </p:cNvPr>
              <p:cNvSpPr txBox="1"/>
              <p:nvPr/>
            </p:nvSpPr>
            <p:spPr>
              <a:xfrm>
                <a:off x="3685860" y="4929728"/>
                <a:ext cx="16087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Prob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AF9E9B2-4590-8FEA-6139-94177182A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5860" y="4929728"/>
                <a:ext cx="1608710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A68364BB-2BF6-B0E8-7CFF-D3775E992F6A}"/>
              </a:ext>
            </a:extLst>
          </p:cNvPr>
          <p:cNvCxnSpPr/>
          <p:nvPr/>
        </p:nvCxnSpPr>
        <p:spPr>
          <a:xfrm>
            <a:off x="3442580" y="4593208"/>
            <a:ext cx="36349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95101C0-287C-2EBD-87D6-023905D5BAEF}"/>
              </a:ext>
            </a:extLst>
          </p:cNvPr>
          <p:cNvCxnSpPr/>
          <p:nvPr/>
        </p:nvCxnSpPr>
        <p:spPr>
          <a:xfrm>
            <a:off x="3442580" y="5137322"/>
            <a:ext cx="36349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29B556AC-3EAB-6DB3-A206-36E62F481C3F}"/>
              </a:ext>
            </a:extLst>
          </p:cNvPr>
          <p:cNvCxnSpPr/>
          <p:nvPr/>
        </p:nvCxnSpPr>
        <p:spPr>
          <a:xfrm>
            <a:off x="3442580" y="4848149"/>
            <a:ext cx="36349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3F94F44D-4F1E-15EB-A676-A624F6DE7D22}"/>
              </a:ext>
            </a:extLst>
          </p:cNvPr>
          <p:cNvGrpSpPr/>
          <p:nvPr/>
        </p:nvGrpSpPr>
        <p:grpSpPr>
          <a:xfrm>
            <a:off x="3907194" y="4753472"/>
            <a:ext cx="72000" cy="208281"/>
            <a:chOff x="9401200" y="4982093"/>
            <a:chExt cx="72000" cy="208281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1F26CFCE-4F25-EFFA-9204-A5FAB0C246EC}"/>
                </a:ext>
              </a:extLst>
            </p:cNvPr>
            <p:cNvSpPr/>
            <p:nvPr/>
          </p:nvSpPr>
          <p:spPr>
            <a:xfrm>
              <a:off x="9401200" y="4982093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642D19C0-EEB5-ACCD-8B7F-5C3714AA9BF6}"/>
                </a:ext>
              </a:extLst>
            </p:cNvPr>
            <p:cNvSpPr/>
            <p:nvPr/>
          </p:nvSpPr>
          <p:spPr>
            <a:xfrm>
              <a:off x="9401200" y="5118374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C34D21E-A708-9694-E9E3-09D7ACE789ED}"/>
              </a:ext>
            </a:extLst>
          </p:cNvPr>
          <p:cNvSpPr txBox="1"/>
          <p:nvPr/>
        </p:nvSpPr>
        <p:spPr>
          <a:xfrm>
            <a:off x="1571162" y="5394434"/>
            <a:ext cx="3391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&lt;Discrete action space</a:t>
            </a:r>
            <a:r>
              <a:rPr lang="ko-KR" altLang="en-US" dirty="0"/>
              <a:t>인 경우</a:t>
            </a:r>
            <a:r>
              <a:rPr lang="en-US" altLang="ko-KR" dirty="0"/>
              <a:t>.</a:t>
            </a:r>
          </a:p>
          <a:p>
            <a:pPr algn="ctr"/>
            <a:r>
              <a:rPr lang="en-US" altLang="ko-KR" dirty="0"/>
              <a:t>Categorical</a:t>
            </a:r>
            <a:r>
              <a:rPr lang="ko-KR" altLang="en-US" dirty="0"/>
              <a:t> 분포 사용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EC372FA7-2E82-1381-86EF-5F8E92B89E1D}"/>
                  </a:ext>
                </a:extLst>
              </p:cNvPr>
              <p:cNvSpPr/>
              <p:nvPr/>
            </p:nvSpPr>
            <p:spPr>
              <a:xfrm>
                <a:off x="8047182" y="4496108"/>
                <a:ext cx="983738" cy="702051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EC372FA7-2E82-1381-86EF-5F8E92B89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7182" y="4496108"/>
                <a:ext cx="983738" cy="7020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47FCF01-AFD0-F863-3AEB-DE97E06AD35B}"/>
              </a:ext>
            </a:extLst>
          </p:cNvPr>
          <p:cNvSpPr txBox="1"/>
          <p:nvPr/>
        </p:nvSpPr>
        <p:spPr>
          <a:xfrm>
            <a:off x="6979968" y="4523967"/>
            <a:ext cx="703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State</a:t>
            </a:r>
          </a:p>
          <a:p>
            <a:pPr algn="ctr"/>
            <a:r>
              <a:rPr lang="en-US" altLang="ko-KR" dirty="0"/>
              <a:t>(s)</a:t>
            </a:r>
            <a:endParaRPr lang="ko-KR" altLang="en-US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AE8CCBB-D096-04CC-07A1-E629B29DF165}"/>
              </a:ext>
            </a:extLst>
          </p:cNvPr>
          <p:cNvCxnSpPr>
            <a:stCxn id="12" idx="3"/>
            <a:endCxn id="8" idx="1"/>
          </p:cNvCxnSpPr>
          <p:nvPr/>
        </p:nvCxnSpPr>
        <p:spPr>
          <a:xfrm>
            <a:off x="7683687" y="4847133"/>
            <a:ext cx="36349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1365173-E758-81CD-818F-DCCFF0DC697B}"/>
                  </a:ext>
                </a:extLst>
              </p:cNvPr>
              <p:cNvSpPr txBox="1"/>
              <p:nvPr/>
            </p:nvSpPr>
            <p:spPr>
              <a:xfrm>
                <a:off x="9274201" y="4373971"/>
                <a:ext cx="8394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𝑚𝑒𝑎𝑛</m:t>
                      </m:r>
                    </m:oMath>
                  </m:oMathPara>
                </a14:m>
                <a:endParaRPr lang="ko-KR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1365173-E758-81CD-818F-DCCFF0DC6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4201" y="4373971"/>
                <a:ext cx="83946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19688E0-C877-4AA0-227E-9849032F205C}"/>
                  </a:ext>
                </a:extLst>
              </p:cNvPr>
              <p:cNvSpPr txBox="1"/>
              <p:nvPr/>
            </p:nvSpPr>
            <p:spPr>
              <a:xfrm>
                <a:off x="9274200" y="4908027"/>
                <a:ext cx="5725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std</m:t>
                      </m:r>
                    </m:oMath>
                  </m:oMathPara>
                </a14:m>
                <a:endParaRPr lang="ko-KR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19688E0-C877-4AA0-227E-9849032F2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4200" y="4908027"/>
                <a:ext cx="57259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39598E11-E523-14CC-D11F-0E89C78BE14E}"/>
              </a:ext>
            </a:extLst>
          </p:cNvPr>
          <p:cNvCxnSpPr/>
          <p:nvPr/>
        </p:nvCxnSpPr>
        <p:spPr>
          <a:xfrm>
            <a:off x="9030920" y="4571507"/>
            <a:ext cx="36349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E48CCE1-3BA4-B979-6D0C-5528EDF86498}"/>
              </a:ext>
            </a:extLst>
          </p:cNvPr>
          <p:cNvCxnSpPr/>
          <p:nvPr/>
        </p:nvCxnSpPr>
        <p:spPr>
          <a:xfrm>
            <a:off x="9030920" y="5115621"/>
            <a:ext cx="36349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714A04C-81C1-E518-1F1C-6EB3E511D7B8}"/>
              </a:ext>
            </a:extLst>
          </p:cNvPr>
          <p:cNvSpPr txBox="1"/>
          <p:nvPr/>
        </p:nvSpPr>
        <p:spPr>
          <a:xfrm>
            <a:off x="6981379" y="5372733"/>
            <a:ext cx="37480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&lt;Continuous action space</a:t>
            </a:r>
            <a:r>
              <a:rPr lang="ko-KR" altLang="en-US" dirty="0"/>
              <a:t>인 경우</a:t>
            </a:r>
            <a:r>
              <a:rPr lang="en-US" altLang="ko-KR" dirty="0"/>
              <a:t>.</a:t>
            </a:r>
          </a:p>
          <a:p>
            <a:pPr algn="ctr"/>
            <a:r>
              <a:rPr lang="en-US" altLang="ko-KR" dirty="0"/>
              <a:t>Gaussian</a:t>
            </a:r>
            <a:r>
              <a:rPr lang="ko-KR" altLang="en-US" dirty="0"/>
              <a:t> 분포 사용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0473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0BE88-52B8-7CAE-7C5C-CD6097A5D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C56F21-CF28-33FB-C16C-E51639D09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/>
              <a:t>목차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35D89E-071E-8313-4550-3F76052C5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romanUcPeriod"/>
            </a:pP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</a:rPr>
              <a:t>Policy-based RL </a:t>
            </a:r>
            <a:r>
              <a:rPr lang="ko-KR" altLang="en-US" b="1" dirty="0">
                <a:solidFill>
                  <a:schemeClr val="bg1">
                    <a:lumMod val="75000"/>
                  </a:schemeClr>
                </a:solidFill>
              </a:rPr>
              <a:t>소개</a:t>
            </a:r>
            <a:endParaRPr lang="en-US" altLang="ko-KR" b="1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buFont typeface="+mj-lt"/>
              <a:buAutoNum type="romanUcPeriod"/>
            </a:pPr>
            <a:r>
              <a:rPr lang="en-US" altLang="ko-KR" b="1" dirty="0"/>
              <a:t>REINFORCE</a:t>
            </a:r>
          </a:p>
          <a:p>
            <a:pPr>
              <a:buFont typeface="+mj-lt"/>
              <a:buAutoNum type="romanUcPeriod"/>
            </a:pP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</a:rPr>
              <a:t>A2C, A3C</a:t>
            </a:r>
          </a:p>
          <a:p>
            <a:pPr>
              <a:buFont typeface="+mj-lt"/>
              <a:buAutoNum type="romanUcPeriod"/>
            </a:pP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</a:rPr>
              <a:t>PPO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1445A7-5EAA-5AE3-1D7F-1637C536D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D6F1-E034-4063-A5F1-77C8142C54C5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8990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5207C-E231-C5FE-314F-A7E7504B8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261B2B-B1B1-8721-0073-2CA404EA0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Ⅱ. REINFORCE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A6964A-670C-737C-0C00-1322AF3B5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b="1" dirty="0"/>
              <a:t>Vanilla</a:t>
            </a:r>
            <a:r>
              <a:rPr lang="ko-KR" altLang="en-US" b="1" dirty="0"/>
              <a:t> </a:t>
            </a:r>
            <a:r>
              <a:rPr lang="en-US" altLang="ko-KR" b="1" dirty="0"/>
              <a:t>Policy</a:t>
            </a:r>
            <a:r>
              <a:rPr lang="ko-KR" altLang="en-US" b="1" dirty="0"/>
              <a:t> </a:t>
            </a:r>
            <a:r>
              <a:rPr lang="en-US" altLang="ko-KR" b="1" dirty="0"/>
              <a:t>Gradient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b="1" dirty="0"/>
              <a:t>RL</a:t>
            </a:r>
            <a:r>
              <a:rPr lang="ko-KR" altLang="en-US" b="1" dirty="0"/>
              <a:t>의 목표 </a:t>
            </a:r>
            <a:r>
              <a:rPr lang="en-US" altLang="ko-KR" b="1" dirty="0"/>
              <a:t>: </a:t>
            </a:r>
            <a:r>
              <a:rPr lang="ko-KR" altLang="en-US" b="1" dirty="0"/>
              <a:t>보상의 총 합을 최대화 하는 </a:t>
            </a:r>
            <a:r>
              <a:rPr lang="ko-KR" altLang="en-US" b="1" dirty="0">
                <a:solidFill>
                  <a:srgbClr val="FF0000"/>
                </a:solidFill>
              </a:rPr>
              <a:t>행동 정책 </a:t>
            </a:r>
            <a:r>
              <a:rPr lang="en-US" altLang="ko-KR" b="1" dirty="0">
                <a:solidFill>
                  <a:srgbClr val="FF0000"/>
                </a:solidFill>
              </a:rPr>
              <a:t>(action policy)</a:t>
            </a:r>
            <a:r>
              <a:rPr lang="en-US" altLang="ko-KR" b="1" dirty="0"/>
              <a:t> </a:t>
            </a:r>
            <a:r>
              <a:rPr lang="ko-KR" altLang="en-US" b="1" dirty="0"/>
              <a:t>찾기</a:t>
            </a:r>
            <a:endParaRPr lang="en-US" altLang="ko-KR" b="1" dirty="0"/>
          </a:p>
          <a:p>
            <a:pPr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pPr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pPr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pPr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pPr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b="1" dirty="0"/>
              <a:t>REINFORCE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b="1" dirty="0"/>
              <a:t>Simple Statistical Gradient-Following Algorithms for Connectionist Reinforcement Learning (Ronald J. Williams, Machine Learning, Volume 8, 1992)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4F4DCD-811A-52AA-A468-7AFD6747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D6F1-E034-4063-A5F1-77C8142C54C5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B5666B4-CC58-DE80-E7C2-1A68BCE19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321" y="5309800"/>
            <a:ext cx="7057890" cy="994736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CAC18E-21B7-FA3A-5203-31B9A356157A}"/>
                  </a:ext>
                </a:extLst>
              </p:cNvPr>
              <p:cNvSpPr txBox="1"/>
              <p:nvPr/>
            </p:nvSpPr>
            <p:spPr>
              <a:xfrm>
                <a:off x="3692142" y="1484425"/>
                <a:ext cx="1489447" cy="3059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CAC18E-21B7-FA3A-5203-31B9A3561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2142" y="1484425"/>
                <a:ext cx="1489447" cy="305981"/>
              </a:xfrm>
              <a:prstGeom prst="rect">
                <a:avLst/>
              </a:prstGeom>
              <a:blipFill>
                <a:blip r:embed="rId3"/>
                <a:stretch>
                  <a:fillRect l="-3689" t="-2000" r="-4098" b="-26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CE30DC-A7D0-4051-9ED2-082F54DE8E57}"/>
                  </a:ext>
                </a:extLst>
              </p:cNvPr>
              <p:cNvSpPr txBox="1"/>
              <p:nvPr/>
            </p:nvSpPr>
            <p:spPr>
              <a:xfrm>
                <a:off x="1001568" y="1905608"/>
                <a:ext cx="6173754" cy="7693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ko-KR" alt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CE30DC-A7D0-4051-9ED2-082F54DE8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568" y="1905608"/>
                <a:ext cx="6173754" cy="7693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B437D75-2F3F-D6C3-5DA0-0A4ABACD7E55}"/>
                  </a:ext>
                </a:extLst>
              </p:cNvPr>
              <p:cNvSpPr txBox="1"/>
              <p:nvPr/>
            </p:nvSpPr>
            <p:spPr>
              <a:xfrm>
                <a:off x="819617" y="2673730"/>
                <a:ext cx="11072326" cy="764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ko-KR" alt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B437D75-2F3F-D6C3-5DA0-0A4ABACD7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617" y="2673730"/>
                <a:ext cx="11072326" cy="7645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6E24371-70B8-3CD2-0BFB-71B4B0670AFC}"/>
                  </a:ext>
                </a:extLst>
              </p:cNvPr>
              <p:cNvSpPr txBox="1"/>
              <p:nvPr/>
            </p:nvSpPr>
            <p:spPr>
              <a:xfrm>
                <a:off x="3118735" y="3637172"/>
                <a:ext cx="6173754" cy="683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ko-KR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ko-KR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6E24371-70B8-3CD2-0BFB-71B4B0670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735" y="3637172"/>
                <a:ext cx="6173754" cy="6834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17A4891-703C-C93E-65FD-9A2C02C63EF8}"/>
              </a:ext>
            </a:extLst>
          </p:cNvPr>
          <p:cNvCxnSpPr/>
          <p:nvPr/>
        </p:nvCxnSpPr>
        <p:spPr>
          <a:xfrm>
            <a:off x="6467750" y="2466124"/>
            <a:ext cx="3981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5BF0BDDE-BB4E-D1FE-5C27-7F2544D0842D}"/>
              </a:ext>
            </a:extLst>
          </p:cNvPr>
          <p:cNvCxnSpPr>
            <a:cxnSpLocks/>
          </p:cNvCxnSpPr>
          <p:nvPr/>
        </p:nvCxnSpPr>
        <p:spPr>
          <a:xfrm>
            <a:off x="6865856" y="2873560"/>
            <a:ext cx="19221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7BC1A1C5-DD62-D0DC-9FC0-747346FF9871}"/>
              </a:ext>
            </a:extLst>
          </p:cNvPr>
          <p:cNvCxnSpPr>
            <a:cxnSpLocks/>
          </p:cNvCxnSpPr>
          <p:nvPr/>
        </p:nvCxnSpPr>
        <p:spPr>
          <a:xfrm>
            <a:off x="6013660" y="3249895"/>
            <a:ext cx="236375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11B9EB9D-F1E3-4924-6599-C29C09B52D22}"/>
              </a:ext>
            </a:extLst>
          </p:cNvPr>
          <p:cNvCxnSpPr>
            <a:cxnSpLocks/>
          </p:cNvCxnSpPr>
          <p:nvPr/>
        </p:nvCxnSpPr>
        <p:spPr>
          <a:xfrm>
            <a:off x="3208257" y="3249895"/>
            <a:ext cx="102636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A19BC3F-9305-A852-5800-94480FCDBAA7}"/>
                  </a:ext>
                </a:extLst>
              </p:cNvPr>
              <p:cNvSpPr txBox="1"/>
              <p:nvPr/>
            </p:nvSpPr>
            <p:spPr>
              <a:xfrm>
                <a:off x="7838612" y="2091817"/>
                <a:ext cx="38725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:</a:t>
                </a:r>
                <a:r>
                  <a:rPr lang="ko-KR" altLang="en-US" dirty="0"/>
                  <a:t> 정상상태에서 </a:t>
                </a:r>
                <a:r>
                  <a:rPr lang="en-US" altLang="ko-KR" dirty="0"/>
                  <a:t>s</a:t>
                </a:r>
                <a:r>
                  <a:rPr lang="ko-KR" altLang="en-US" dirty="0"/>
                  <a:t>에 방문할 확률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A19BC3F-9305-A852-5800-94480FCDB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612" y="2091817"/>
                <a:ext cx="3872544" cy="369332"/>
              </a:xfrm>
              <a:prstGeom prst="rect">
                <a:avLst/>
              </a:prstGeom>
              <a:blipFill>
                <a:blip r:embed="rId7"/>
                <a:stretch>
                  <a:fillRect t="-8197" r="-630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B8A4BB4-DB2C-9D89-D954-03F436988BFA}"/>
                  </a:ext>
                </a:extLst>
              </p:cNvPr>
              <p:cNvSpPr txBox="1"/>
              <p:nvPr/>
            </p:nvSpPr>
            <p:spPr>
              <a:xfrm>
                <a:off x="5241807" y="1470025"/>
                <a:ext cx="25164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ko-KR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B8A4BB4-DB2C-9D89-D954-03F436988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807" y="1470025"/>
                <a:ext cx="2516488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그림 37">
            <a:extLst>
              <a:ext uri="{FF2B5EF4-FFF2-40B4-BE49-F238E27FC236}">
                <a16:creationId xmlns:a16="http://schemas.microsoft.com/office/drawing/2014/main" id="{4CE197C4-5CD0-5F16-E836-0FD9B5F48E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617" y="5526180"/>
            <a:ext cx="3086100" cy="561975"/>
          </a:xfrm>
          <a:prstGeom prst="rect">
            <a:avLst/>
          </a:prstGeom>
        </p:spPr>
      </p:pic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C1FEAA68-3770-90FC-5487-FD2ACD5FA7C2}"/>
              </a:ext>
            </a:extLst>
          </p:cNvPr>
          <p:cNvCxnSpPr>
            <a:cxnSpLocks/>
          </p:cNvCxnSpPr>
          <p:nvPr/>
        </p:nvCxnSpPr>
        <p:spPr>
          <a:xfrm>
            <a:off x="3692142" y="3249895"/>
            <a:ext cx="0" cy="5554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83045FAC-D440-45B3-7C5D-DBD107C32004}"/>
              </a:ext>
            </a:extLst>
          </p:cNvPr>
          <p:cNvCxnSpPr>
            <a:cxnSpLocks/>
          </p:cNvCxnSpPr>
          <p:nvPr/>
        </p:nvCxnSpPr>
        <p:spPr>
          <a:xfrm flipV="1">
            <a:off x="7376466" y="3249895"/>
            <a:ext cx="0" cy="5554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B9BE7972-2A61-3E24-BB74-F31FBCE6A925}"/>
              </a:ext>
            </a:extLst>
          </p:cNvPr>
          <p:cNvCxnSpPr>
            <a:cxnSpLocks/>
          </p:cNvCxnSpPr>
          <p:nvPr/>
        </p:nvCxnSpPr>
        <p:spPr>
          <a:xfrm>
            <a:off x="6760833" y="3805325"/>
            <a:ext cx="236375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5BA6862C-277D-4F5D-7803-86A5E3D41DE7}"/>
              </a:ext>
            </a:extLst>
          </p:cNvPr>
          <p:cNvCxnSpPr>
            <a:cxnSpLocks/>
          </p:cNvCxnSpPr>
          <p:nvPr/>
        </p:nvCxnSpPr>
        <p:spPr>
          <a:xfrm>
            <a:off x="3282651" y="3805325"/>
            <a:ext cx="102636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204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9FAC1-9786-C434-8D76-1014C7383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DE8DB4-9F7B-E69D-5563-F15ACBC2A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Ⅱ. REINFORCE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960EA2-E8C5-3918-7329-FBAC5304D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b="1" dirty="0"/>
              <a:t>REINFORCE with Baseline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dirty="0"/>
              <a:t>Vanilla</a:t>
            </a:r>
            <a:r>
              <a:rPr lang="ko-KR" altLang="en-US" dirty="0"/>
              <a:t> </a:t>
            </a:r>
            <a:r>
              <a:rPr lang="en-US" altLang="ko-KR" dirty="0"/>
              <a:t>REINFORCE</a:t>
            </a:r>
            <a:r>
              <a:rPr lang="ko-KR" altLang="en-US" dirty="0"/>
              <a:t>는 </a:t>
            </a:r>
            <a:r>
              <a:rPr lang="en-US" altLang="ko-KR" dirty="0"/>
              <a:t>return</a:t>
            </a:r>
            <a:r>
              <a:rPr lang="ko-KR" altLang="en-US" dirty="0"/>
              <a:t>을 사용하므로 </a:t>
            </a:r>
            <a:r>
              <a:rPr lang="en-US" altLang="ko-KR" dirty="0"/>
              <a:t>variance</a:t>
            </a:r>
            <a:r>
              <a:rPr lang="ko-KR" altLang="en-US" dirty="0"/>
              <a:t>가 너무 크다</a:t>
            </a:r>
            <a:r>
              <a:rPr lang="en-US" altLang="ko-K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dirty="0"/>
              <a:t>Variance</a:t>
            </a:r>
            <a:r>
              <a:rPr lang="ko-KR" altLang="en-US" dirty="0"/>
              <a:t>를 줄이기 위해 </a:t>
            </a:r>
            <a:r>
              <a:rPr lang="en-US" altLang="ko-KR" dirty="0"/>
              <a:t>return</a:t>
            </a:r>
            <a:r>
              <a:rPr lang="ko-KR" altLang="en-US" dirty="0"/>
              <a:t>에서 </a:t>
            </a:r>
            <a:r>
              <a:rPr lang="en-US" altLang="ko-KR" dirty="0"/>
              <a:t>baseline</a:t>
            </a:r>
            <a:r>
              <a:rPr lang="ko-KR" altLang="en-US" dirty="0"/>
              <a:t>을 빼자</a:t>
            </a:r>
            <a:r>
              <a:rPr lang="en-US" altLang="ko-K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dirty="0"/>
              <a:t>빼더라도 </a:t>
            </a:r>
            <a:r>
              <a:rPr lang="en-US" altLang="ko-KR" dirty="0"/>
              <a:t>gradient</a:t>
            </a:r>
            <a:r>
              <a:rPr lang="ko-KR" altLang="en-US" dirty="0"/>
              <a:t>는 같다</a:t>
            </a:r>
            <a:r>
              <a:rPr lang="en-US" altLang="ko-K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dirty="0"/>
              <a:t>처음 제안 당시에는 </a:t>
            </a:r>
            <a:r>
              <a:rPr lang="en-US" altLang="ko-KR" dirty="0"/>
              <a:t>return</a:t>
            </a:r>
            <a:r>
              <a:rPr lang="ko-KR" altLang="en-US" dirty="0"/>
              <a:t>에 대한 </a:t>
            </a:r>
            <a:r>
              <a:rPr lang="ko-KR" altLang="en-US" dirty="0" err="1"/>
              <a:t>통계값</a:t>
            </a:r>
            <a:r>
              <a:rPr lang="en-US" altLang="ko-KR" dirty="0"/>
              <a:t>(</a:t>
            </a:r>
            <a:r>
              <a:rPr lang="ko-KR" altLang="en-US" dirty="0"/>
              <a:t>평균 등</a:t>
            </a:r>
            <a:r>
              <a:rPr lang="en-US" altLang="ko-KR" dirty="0"/>
              <a:t>) </a:t>
            </a:r>
            <a:r>
              <a:rPr lang="ko-KR" altLang="en-US" dirty="0"/>
              <a:t>사용</a:t>
            </a:r>
            <a:endParaRPr lang="en-US" altLang="ko-K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dirty="0"/>
              <a:t>이상적인 </a:t>
            </a:r>
            <a:r>
              <a:rPr lang="en-US" altLang="ko-KR" dirty="0"/>
              <a:t>b</a:t>
            </a:r>
            <a:r>
              <a:rPr lang="ko-KR" altLang="en-US" dirty="0"/>
              <a:t>값 중 하나는 </a:t>
            </a:r>
            <a:r>
              <a:rPr lang="en-US" altLang="ko-KR" dirty="0"/>
              <a:t>V(s)</a:t>
            </a:r>
            <a:r>
              <a:rPr lang="ko-KR" altLang="en-US" dirty="0"/>
              <a:t> 이다</a:t>
            </a:r>
            <a:r>
              <a:rPr lang="en-US" altLang="ko-KR" dirty="0"/>
              <a:t>. - Critic</a:t>
            </a:r>
            <a:r>
              <a:rPr lang="ko-KR" altLang="en-US" dirty="0"/>
              <a:t>으로 발전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643040-A314-35EF-7A16-F2689656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D6F1-E034-4063-A5F1-77C8142C54C5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C79D6B-593E-9C3E-D332-0D56F61A426C}"/>
                  </a:ext>
                </a:extLst>
              </p:cNvPr>
              <p:cNvSpPr txBox="1"/>
              <p:nvPr/>
            </p:nvSpPr>
            <p:spPr>
              <a:xfrm>
                <a:off x="1331060" y="1438400"/>
                <a:ext cx="1489447" cy="3059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C79D6B-593E-9C3E-D332-0D56F61A4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060" y="1438400"/>
                <a:ext cx="1489447" cy="305981"/>
              </a:xfrm>
              <a:prstGeom prst="rect">
                <a:avLst/>
              </a:prstGeom>
              <a:blipFill>
                <a:blip r:embed="rId2"/>
                <a:stretch>
                  <a:fillRect l="-3673" t="-2000" r="-4082" b="-26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CE7A78-C9F8-7D53-E840-2611279209AB}"/>
                  </a:ext>
                </a:extLst>
              </p:cNvPr>
              <p:cNvSpPr txBox="1"/>
              <p:nvPr/>
            </p:nvSpPr>
            <p:spPr>
              <a:xfrm>
                <a:off x="3063788" y="1406724"/>
                <a:ext cx="25164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ko-KR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CE7A78-C9F8-7D53-E840-261127920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788" y="1406724"/>
                <a:ext cx="2516488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7686E0E-8ECC-9EC6-9440-1A34372F7660}"/>
                  </a:ext>
                </a:extLst>
              </p:cNvPr>
              <p:cNvSpPr txBox="1"/>
              <p:nvPr/>
            </p:nvSpPr>
            <p:spPr>
              <a:xfrm>
                <a:off x="5961243" y="1382359"/>
                <a:ext cx="3729134" cy="4180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ko-KR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7686E0E-8ECC-9EC6-9440-1A34372F7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243" y="1382359"/>
                <a:ext cx="3729134" cy="418063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349F1C-17AE-ADDE-E411-38C98DA2B5F0}"/>
                  </a:ext>
                </a:extLst>
              </p:cNvPr>
              <p:cNvSpPr txBox="1"/>
              <p:nvPr/>
            </p:nvSpPr>
            <p:spPr>
              <a:xfrm>
                <a:off x="5961243" y="3448892"/>
                <a:ext cx="4349407" cy="4180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349F1C-17AE-ADDE-E411-38C98DA2B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243" y="3448892"/>
                <a:ext cx="4349407" cy="418063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02F66C-990C-6DBB-B801-EAF5F46E5354}"/>
                  </a:ext>
                </a:extLst>
              </p:cNvPr>
              <p:cNvSpPr txBox="1"/>
              <p:nvPr/>
            </p:nvSpPr>
            <p:spPr>
              <a:xfrm>
                <a:off x="1590125" y="4430035"/>
                <a:ext cx="7586953" cy="147732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arenBoth"/>
                </a:pPr>
                <a:r>
                  <a:rPr lang="en-US" altLang="ko-KR" dirty="0"/>
                  <a:t>Actor </a:t>
                </a:r>
                <a:r>
                  <a:rPr lang="ko-KR" altLang="en-US" dirty="0"/>
                  <a:t>준비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초기화</a:t>
                </a:r>
                <a:r>
                  <a:rPr lang="en-US" altLang="ko-KR" dirty="0"/>
                  <a:t>)</a:t>
                </a:r>
              </a:p>
              <a:p>
                <a:pPr marL="342900" indent="-342900">
                  <a:buAutoNum type="arabicParenBoth"/>
                </a:pPr>
                <a:r>
                  <a:rPr lang="ko-KR" altLang="en-US" dirty="0"/>
                  <a:t>반복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①</a:t>
                </a:r>
                <a:r>
                  <a:rPr lang="en-US" altLang="ko-KR" dirty="0"/>
                  <a:t>~</a:t>
                </a:r>
                <a:r>
                  <a:rPr lang="ko-KR" altLang="en-US" dirty="0"/>
                  <a:t>③</a:t>
                </a:r>
                <a:r>
                  <a:rPr lang="en-US" altLang="ko-KR" dirty="0"/>
                  <a:t>)</a:t>
                </a:r>
              </a:p>
              <a:p>
                <a:pPr marL="800100" lvl="1" indent="-342900">
                  <a:buFont typeface="+mj-ea"/>
                  <a:buAutoNum type="circleNumDbPlain"/>
                </a:pPr>
                <a:r>
                  <a:rPr lang="en-US" altLang="ko-KR" dirty="0"/>
                  <a:t>Episode </a:t>
                </a:r>
                <a:r>
                  <a:rPr lang="ko-KR" altLang="en-US" dirty="0"/>
                  <a:t>데이터 수집</a:t>
                </a:r>
                <a:r>
                  <a:rPr lang="en-US" altLang="ko-KR" dirty="0"/>
                  <a:t>(rollout)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~</m:t>
                    </m:r>
                    <m:d>
                      <m:dPr>
                        <m:begChr m:val="{"/>
                        <m:endChr m:val="}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dirty="0"/>
              </a:p>
              <a:p>
                <a:pPr marL="800100" lvl="1" indent="-342900">
                  <a:buFont typeface="+mj-lt"/>
                  <a:buAutoNum type="circleNumDbPlain"/>
                </a:pPr>
                <a:r>
                  <a:rPr lang="en-US" altLang="ko-KR" dirty="0"/>
                  <a:t>Actor Update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+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marL="800100" lvl="1" indent="-342900">
                  <a:buFont typeface="+mj-ea"/>
                  <a:buAutoNum type="circleNumDbPlain"/>
                </a:pPr>
                <a:r>
                  <a:rPr lang="en-US" altLang="ko-KR" dirty="0"/>
                  <a:t>Clear rollout</a:t>
                </a:r>
                <a:endParaRPr lang="ko-KR" alt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02F66C-990C-6DBB-B801-EAF5F46E5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125" y="4430035"/>
                <a:ext cx="7586953" cy="1477328"/>
              </a:xfrm>
              <a:prstGeom prst="rect">
                <a:avLst/>
              </a:prstGeom>
              <a:blipFill>
                <a:blip r:embed="rId6"/>
                <a:stretch>
                  <a:fillRect l="-803" t="-3689" b="-65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D2A8154-D134-0DAC-957C-113FBB7DDABF}"/>
              </a:ext>
            </a:extLst>
          </p:cNvPr>
          <p:cNvSpPr txBox="1"/>
          <p:nvPr/>
        </p:nvSpPr>
        <p:spPr>
          <a:xfrm>
            <a:off x="1590124" y="4060703"/>
            <a:ext cx="75869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REINFORCE Algorithm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019782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01C4A-56A4-479F-05EA-C535F18B9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0A20CC-369F-D5B0-7711-71E426ED2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/>
              <a:t>목차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B454F5-17BF-DF12-7A43-5DE2414A3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romanUcPeriod"/>
            </a:pP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</a:rPr>
              <a:t>Policy-based RL </a:t>
            </a:r>
            <a:r>
              <a:rPr lang="ko-KR" altLang="en-US" b="1" dirty="0">
                <a:solidFill>
                  <a:schemeClr val="bg1">
                    <a:lumMod val="75000"/>
                  </a:schemeClr>
                </a:solidFill>
              </a:rPr>
              <a:t>소개</a:t>
            </a:r>
            <a:endParaRPr lang="en-US" altLang="ko-KR" b="1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buFont typeface="+mj-lt"/>
              <a:buAutoNum type="romanUcPeriod"/>
            </a:pP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</a:rPr>
              <a:t>REINFORCE</a:t>
            </a:r>
          </a:p>
          <a:p>
            <a:pPr>
              <a:buFont typeface="+mj-lt"/>
              <a:buAutoNum type="romanUcPeriod"/>
            </a:pPr>
            <a:r>
              <a:rPr lang="en-US" altLang="ko-KR" b="1" dirty="0"/>
              <a:t>A2C, A3C</a:t>
            </a:r>
          </a:p>
          <a:p>
            <a:pPr>
              <a:buFont typeface="+mj-lt"/>
              <a:buAutoNum type="romanUcPeriod"/>
            </a:pP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</a:rPr>
              <a:t>PPO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DDEBCE-B4FB-D5A0-607E-CA85691B1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D6F1-E034-4063-A5F1-77C8142C54C5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4694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140D8-A169-B971-6791-3EECCB65C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A395E3-4CB0-A607-8170-A4418A338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Ⅲ. A2C, A3C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E7C093-7644-E322-7502-4F524B5CB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b="1" dirty="0"/>
              <a:t>A2C : Advantage Actor-Critic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dirty="0"/>
              <a:t>Return (G) </a:t>
            </a:r>
            <a:r>
              <a:rPr lang="ko-KR" altLang="en-US" dirty="0"/>
              <a:t>얻으려면 </a:t>
            </a:r>
            <a:r>
              <a:rPr lang="en-US" altLang="ko-KR" dirty="0"/>
              <a:t>episode </a:t>
            </a:r>
            <a:r>
              <a:rPr lang="ko-KR" altLang="en-US" dirty="0"/>
              <a:t>종료를 기다려야 한다</a:t>
            </a:r>
            <a:r>
              <a:rPr lang="en-US" altLang="ko-K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dirty="0"/>
              <a:t>Return</a:t>
            </a:r>
            <a:r>
              <a:rPr lang="ko-KR" altLang="en-US" dirty="0"/>
              <a:t> 기다리지 말고 추정하자</a:t>
            </a:r>
            <a:r>
              <a:rPr lang="en-US" altLang="ko-KR" dirty="0"/>
              <a:t>. </a:t>
            </a:r>
            <a:r>
              <a:rPr lang="en-US" altLang="ko-KR" dirty="0">
                <a:sym typeface="Wingdings" panose="05000000000000000000" pitchFamily="2" charset="2"/>
              </a:rPr>
              <a:t> Q(s, a)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dirty="0">
                <a:sym typeface="Wingdings" panose="05000000000000000000" pitchFamily="2" charset="2"/>
              </a:rPr>
              <a:t>Q</a:t>
            </a:r>
            <a:r>
              <a:rPr lang="ko-KR" altLang="en-US" dirty="0">
                <a:sym typeface="Wingdings" panose="05000000000000000000" pitchFamily="2" charset="2"/>
              </a:rPr>
              <a:t>를 모르니 </a:t>
            </a:r>
            <a:r>
              <a:rPr lang="en-US" altLang="ko-KR" dirty="0">
                <a:sym typeface="Wingdings" panose="05000000000000000000" pitchFamily="2" charset="2"/>
              </a:rPr>
              <a:t>NN</a:t>
            </a:r>
            <a:r>
              <a:rPr lang="ko-KR" altLang="en-US" dirty="0">
                <a:sym typeface="Wingdings" panose="05000000000000000000" pitchFamily="2" charset="2"/>
              </a:rPr>
              <a:t>으로 근사하자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dirty="0">
                <a:sym typeface="Wingdings" panose="05000000000000000000" pitchFamily="2" charset="2"/>
              </a:rPr>
              <a:t>Baseline (V)</a:t>
            </a:r>
            <a:r>
              <a:rPr lang="ko-KR" altLang="en-US" dirty="0">
                <a:sym typeface="Wingdings" panose="05000000000000000000" pitchFamily="2" charset="2"/>
              </a:rPr>
              <a:t> 도입하자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dirty="0">
                <a:sym typeface="Wingdings" panose="05000000000000000000" pitchFamily="2" charset="2"/>
              </a:rPr>
              <a:t>V</a:t>
            </a:r>
            <a:r>
              <a:rPr lang="ko-KR" altLang="en-US" dirty="0">
                <a:sym typeface="Wingdings" panose="05000000000000000000" pitchFamily="2" charset="2"/>
              </a:rPr>
              <a:t>도 모르니 </a:t>
            </a:r>
            <a:r>
              <a:rPr lang="en-US" altLang="ko-KR" dirty="0">
                <a:sym typeface="Wingdings" panose="05000000000000000000" pitchFamily="2" charset="2"/>
              </a:rPr>
              <a:t>NN</a:t>
            </a:r>
            <a:r>
              <a:rPr lang="ko-KR" altLang="en-US" dirty="0">
                <a:sym typeface="Wingdings" panose="05000000000000000000" pitchFamily="2" charset="2"/>
              </a:rPr>
              <a:t>으로 근사하자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dirty="0">
                <a:sym typeface="Wingdings" panose="05000000000000000000" pitchFamily="2" charset="2"/>
              </a:rPr>
              <a:t>Q</a:t>
            </a:r>
            <a:r>
              <a:rPr lang="ko-KR" altLang="en-US" dirty="0">
                <a:sym typeface="Wingdings" panose="05000000000000000000" pitchFamily="2" charset="2"/>
              </a:rPr>
              <a:t>를 </a:t>
            </a:r>
            <a:r>
              <a:rPr lang="en-US" altLang="ko-KR" dirty="0">
                <a:sym typeface="Wingdings" panose="05000000000000000000" pitchFamily="2" charset="2"/>
              </a:rPr>
              <a:t>V</a:t>
            </a:r>
            <a:r>
              <a:rPr lang="ko-KR" altLang="en-US" dirty="0">
                <a:sym typeface="Wingdings" panose="05000000000000000000" pitchFamily="2" charset="2"/>
              </a:rPr>
              <a:t>에 관해 다시 표현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dirty="0">
                <a:sym typeface="Wingdings" panose="05000000000000000000" pitchFamily="2" charset="2"/>
              </a:rPr>
              <a:t>Q</a:t>
            </a:r>
            <a:r>
              <a:rPr lang="ko-KR" altLang="en-US" dirty="0">
                <a:sym typeface="Wingdings" panose="05000000000000000000" pitchFamily="2" charset="2"/>
              </a:rPr>
              <a:t>를 별도 </a:t>
            </a:r>
            <a:r>
              <a:rPr lang="en-US" altLang="ko-KR" dirty="0">
                <a:sym typeface="Wingdings" panose="05000000000000000000" pitchFamily="2" charset="2"/>
              </a:rPr>
              <a:t>parameter</a:t>
            </a:r>
            <a:r>
              <a:rPr lang="ko-KR" altLang="en-US" dirty="0">
                <a:sym typeface="Wingdings" panose="05000000000000000000" pitchFamily="2" charset="2"/>
              </a:rPr>
              <a:t>로 근사할 필요 없이 </a:t>
            </a:r>
            <a:r>
              <a:rPr lang="en-US" altLang="ko-KR" dirty="0">
                <a:sym typeface="Wingdings" panose="05000000000000000000" pitchFamily="2" charset="2"/>
              </a:rPr>
              <a:t>V</a:t>
            </a:r>
            <a:r>
              <a:rPr lang="ko-KR" altLang="en-US" dirty="0">
                <a:sym typeface="Wingdings" panose="05000000000000000000" pitchFamily="2" charset="2"/>
              </a:rPr>
              <a:t>로 통일 가능 </a:t>
            </a:r>
            <a:r>
              <a:rPr lang="en-US" altLang="ko-KR" dirty="0">
                <a:sym typeface="Wingdings" panose="05000000000000000000" pitchFamily="2" charset="2"/>
              </a:rPr>
              <a:t>– TD Actor-Critic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dirty="0">
                <a:sym typeface="Wingdings" panose="05000000000000000000" pitchFamily="2" charset="2"/>
              </a:rPr>
              <a:t>N-step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TD </a:t>
            </a:r>
            <a:r>
              <a:rPr lang="ko-KR" altLang="en-US" dirty="0">
                <a:sym typeface="Wingdings" panose="05000000000000000000" pitchFamily="2" charset="2"/>
              </a:rPr>
              <a:t>쓰자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E65A66-1A2E-ABB2-EBA2-9A518F407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D6F1-E034-4063-A5F1-77C8142C54C5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1859E2-075B-2A88-CA95-C71AF4DB2355}"/>
                  </a:ext>
                </a:extLst>
              </p:cNvPr>
              <p:cNvSpPr txBox="1"/>
              <p:nvPr/>
            </p:nvSpPr>
            <p:spPr>
              <a:xfrm>
                <a:off x="2961856" y="1788522"/>
                <a:ext cx="4349407" cy="398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1859E2-075B-2A88-CA95-C71AF4DB2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856" y="1788522"/>
                <a:ext cx="4349407" cy="398314"/>
              </a:xfrm>
              <a:prstGeom prst="rect">
                <a:avLst/>
              </a:prstGeom>
              <a:blipFill>
                <a:blip r:embed="rId2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5682F2-CA21-5967-7DEF-F40449C40F0D}"/>
                  </a:ext>
                </a:extLst>
              </p:cNvPr>
              <p:cNvSpPr txBox="1"/>
              <p:nvPr/>
            </p:nvSpPr>
            <p:spPr>
              <a:xfrm>
                <a:off x="3650446" y="4140699"/>
                <a:ext cx="5169213" cy="398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5682F2-CA21-5967-7DEF-F40449C40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0446" y="4140699"/>
                <a:ext cx="5169213" cy="398314"/>
              </a:xfrm>
              <a:prstGeom prst="rect">
                <a:avLst/>
              </a:prstGeom>
              <a:blipFill>
                <a:blip r:embed="rId3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06B851-AF04-1B7E-50BA-458D4E926460}"/>
                  </a:ext>
                </a:extLst>
              </p:cNvPr>
              <p:cNvSpPr txBox="1"/>
              <p:nvPr/>
            </p:nvSpPr>
            <p:spPr>
              <a:xfrm>
                <a:off x="2961856" y="2775107"/>
                <a:ext cx="4349407" cy="398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altLang="ko-K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ko-KR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altLang="ko-KR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ko-KR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06B851-AF04-1B7E-50BA-458D4E926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856" y="2775107"/>
                <a:ext cx="4349407" cy="398314"/>
              </a:xfrm>
              <a:prstGeom prst="rect">
                <a:avLst/>
              </a:prstGeom>
              <a:blipFill>
                <a:blip r:embed="rId4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339DFD-701B-C0DE-CCBC-0284AA1BECDF}"/>
                  </a:ext>
                </a:extLst>
              </p:cNvPr>
              <p:cNvSpPr txBox="1"/>
              <p:nvPr/>
            </p:nvSpPr>
            <p:spPr>
              <a:xfrm>
                <a:off x="1975193" y="5615341"/>
                <a:ext cx="3466538" cy="398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p>
                          </m:sSup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339DFD-701B-C0DE-CCBC-0284AA1BE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193" y="5615341"/>
                <a:ext cx="3466538" cy="398314"/>
              </a:xfrm>
              <a:prstGeom prst="rect">
                <a:avLst/>
              </a:prstGeom>
              <a:blipFill>
                <a:blip r:embed="rId5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20B6EE-9E77-58DB-E8FE-47106CA00FBB}"/>
                  </a:ext>
                </a:extLst>
              </p:cNvPr>
              <p:cNvSpPr txBox="1"/>
              <p:nvPr/>
            </p:nvSpPr>
            <p:spPr>
              <a:xfrm>
                <a:off x="5498015" y="5615341"/>
                <a:ext cx="5835307" cy="398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ko-KR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20B6EE-9E77-58DB-E8FE-47106CA00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015" y="5615341"/>
                <a:ext cx="5835307" cy="398314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그림 15">
            <a:extLst>
              <a:ext uri="{FF2B5EF4-FFF2-40B4-BE49-F238E27FC236}">
                <a16:creationId xmlns:a16="http://schemas.microsoft.com/office/drawing/2014/main" id="{FD223B8A-ED49-E31F-7E00-E4C9C5F5A3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0590" y="6140450"/>
            <a:ext cx="4257675" cy="352425"/>
          </a:xfrm>
          <a:prstGeom prst="rect">
            <a:avLst/>
          </a:prstGeom>
        </p:spPr>
      </p:pic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0433AD6-A808-BBFD-47A0-0C891CC5641B}"/>
              </a:ext>
            </a:extLst>
          </p:cNvPr>
          <p:cNvCxnSpPr/>
          <p:nvPr/>
        </p:nvCxnSpPr>
        <p:spPr>
          <a:xfrm>
            <a:off x="8915400" y="6013655"/>
            <a:ext cx="185244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D92B58F-B59B-D549-7E35-622E42909B05}"/>
              </a:ext>
            </a:extLst>
          </p:cNvPr>
          <p:cNvCxnSpPr/>
          <p:nvPr/>
        </p:nvCxnSpPr>
        <p:spPr>
          <a:xfrm flipH="1">
            <a:off x="9690590" y="6013655"/>
            <a:ext cx="60382" cy="126795"/>
          </a:xfrm>
          <a:prstGeom prst="straightConnector1">
            <a:avLst/>
          </a:prstGeom>
          <a:ln>
            <a:solidFill>
              <a:srgbClr val="C0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C03BEBAF-5440-12A4-C345-08FDBE5C5295}"/>
              </a:ext>
            </a:extLst>
          </p:cNvPr>
          <p:cNvCxnSpPr/>
          <p:nvPr/>
        </p:nvCxnSpPr>
        <p:spPr>
          <a:xfrm>
            <a:off x="6809969" y="4539013"/>
            <a:ext cx="185244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E3E535C-4736-B5BC-D86A-E45025676504}"/>
              </a:ext>
            </a:extLst>
          </p:cNvPr>
          <p:cNvSpPr txBox="1"/>
          <p:nvPr/>
        </p:nvSpPr>
        <p:spPr>
          <a:xfrm>
            <a:off x="7899579" y="4536910"/>
            <a:ext cx="1747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ko-KR" dirty="0"/>
              <a:t>(=Advantage)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DCAFD1A-74F8-7868-B848-ABB7B9375B23}"/>
                  </a:ext>
                </a:extLst>
              </p:cNvPr>
              <p:cNvSpPr txBox="1"/>
              <p:nvPr/>
            </p:nvSpPr>
            <p:spPr>
              <a:xfrm>
                <a:off x="10526162" y="6121440"/>
                <a:ext cx="11863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(=</m:t>
                      </m:r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DCAFD1A-74F8-7868-B848-ABB7B9375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6162" y="6121440"/>
                <a:ext cx="1186336" cy="369332"/>
              </a:xfrm>
              <a:prstGeom prst="rect">
                <a:avLst/>
              </a:prstGeom>
              <a:blipFill>
                <a:blip r:embed="rId8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1362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6825A-2048-5140-D144-B28B5DDA0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62AF7-7781-8E38-B7ED-81F24E1A8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Ⅲ. A2C, A3C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2106BE-5005-8650-7DC9-B4F1A846C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b="1" dirty="0"/>
              <a:t>A2C : Advantage Actor-Critic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dirty="0"/>
              <a:t>Return</a:t>
            </a:r>
            <a:r>
              <a:rPr lang="ko-KR" altLang="en-US" dirty="0"/>
              <a:t>이 쓰이지 않으므로</a:t>
            </a:r>
            <a:r>
              <a:rPr lang="en-US" altLang="ko-KR" dirty="0"/>
              <a:t>, episode </a:t>
            </a:r>
            <a:r>
              <a:rPr lang="ko-KR" altLang="en-US" dirty="0"/>
              <a:t>종료를 기다리지 않는다</a:t>
            </a:r>
            <a:r>
              <a:rPr lang="en-US" altLang="ko-K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dirty="0"/>
              <a:t>대신 </a:t>
            </a:r>
            <a:r>
              <a:rPr lang="en-US" altLang="ko-KR" dirty="0"/>
              <a:t>batch size (N) </a:t>
            </a:r>
            <a:r>
              <a:rPr lang="ko-KR" altLang="en-US" dirty="0"/>
              <a:t>만큼의 </a:t>
            </a:r>
            <a:r>
              <a:rPr lang="en-US" altLang="ko-KR" dirty="0"/>
              <a:t>step</a:t>
            </a:r>
            <a:r>
              <a:rPr lang="ko-KR" altLang="en-US" dirty="0"/>
              <a:t>을 수행하며 </a:t>
            </a:r>
            <a:r>
              <a:rPr lang="en-US" altLang="ko-KR" dirty="0"/>
              <a:t>transition</a:t>
            </a:r>
            <a:r>
              <a:rPr lang="ko-KR" altLang="en-US" dirty="0"/>
              <a:t> 모은다</a:t>
            </a:r>
            <a:r>
              <a:rPr lang="en-US" altLang="ko-KR" dirty="0"/>
              <a:t>. (roll-out buffer)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dirty="0"/>
              <a:t>Batch size</a:t>
            </a:r>
            <a:r>
              <a:rPr lang="ko-KR" altLang="en-US" dirty="0"/>
              <a:t> 만큼 수집 중 </a:t>
            </a:r>
            <a:r>
              <a:rPr lang="en-US" altLang="ko-KR" dirty="0"/>
              <a:t>episode</a:t>
            </a:r>
            <a:r>
              <a:rPr lang="ko-KR" altLang="en-US" dirty="0"/>
              <a:t>가 중단되어도 다음 </a:t>
            </a:r>
            <a:r>
              <a:rPr lang="en-US" altLang="ko-KR" dirty="0"/>
              <a:t>episode</a:t>
            </a:r>
            <a:r>
              <a:rPr lang="ko-KR" altLang="en-US" dirty="0"/>
              <a:t>를 계속 모은다</a:t>
            </a:r>
            <a:r>
              <a:rPr lang="en-US" altLang="ko-K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dirty="0"/>
              <a:t>Roll-out buffer</a:t>
            </a:r>
            <a:r>
              <a:rPr lang="ko-KR" altLang="en-US" dirty="0"/>
              <a:t>가 가득 차면 이를 활용하여 </a:t>
            </a:r>
            <a:r>
              <a:rPr lang="en-US" altLang="ko-KR" dirty="0"/>
              <a:t>NN update. </a:t>
            </a:r>
            <a:r>
              <a:rPr lang="ko-KR" altLang="en-US" dirty="0"/>
              <a:t>이후 </a:t>
            </a:r>
            <a:r>
              <a:rPr lang="en-US" altLang="ko-KR" dirty="0"/>
              <a:t>buffer </a:t>
            </a:r>
            <a:r>
              <a:rPr lang="ko-KR" altLang="en-US" dirty="0"/>
              <a:t>초기화 및 반복수집</a:t>
            </a:r>
            <a:endParaRPr lang="en-US" altLang="ko-KR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9D37D3-13D0-D230-13CC-1163CBE9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D6F1-E034-4063-A5F1-77C8142C54C5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863CA92-361B-7D34-E966-1C684780C6EB}"/>
                  </a:ext>
                </a:extLst>
              </p:cNvPr>
              <p:cNvSpPr txBox="1"/>
              <p:nvPr/>
            </p:nvSpPr>
            <p:spPr>
              <a:xfrm>
                <a:off x="7539165" y="681037"/>
                <a:ext cx="4031679" cy="398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863CA92-361B-7D34-E966-1C684780C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9165" y="681037"/>
                <a:ext cx="4031679" cy="398314"/>
              </a:xfrm>
              <a:prstGeom prst="rect">
                <a:avLst/>
              </a:prstGeom>
              <a:blipFill>
                <a:blip r:embed="rId2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297DF5-1461-A6F3-78A1-6FB2F4CCBA18}"/>
                  </a:ext>
                </a:extLst>
              </p:cNvPr>
              <p:cNvSpPr txBox="1"/>
              <p:nvPr/>
            </p:nvSpPr>
            <p:spPr>
              <a:xfrm>
                <a:off x="1351774" y="3637547"/>
                <a:ext cx="7586953" cy="17543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arenBoth"/>
                </a:pPr>
                <a:r>
                  <a:rPr lang="en-US" altLang="ko-KR" dirty="0"/>
                  <a:t>Actor, Critic </a:t>
                </a:r>
                <a:r>
                  <a:rPr lang="ko-KR" altLang="en-US" dirty="0"/>
                  <a:t>준비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초기화</a:t>
                </a:r>
                <a:r>
                  <a:rPr lang="en-US" altLang="ko-KR" dirty="0"/>
                  <a:t>)</a:t>
                </a:r>
              </a:p>
              <a:p>
                <a:pPr marL="342900" indent="-342900">
                  <a:buAutoNum type="arabicParenBoth"/>
                </a:pPr>
                <a:r>
                  <a:rPr lang="ko-KR" altLang="en-US" dirty="0"/>
                  <a:t>반복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①</a:t>
                </a:r>
                <a:r>
                  <a:rPr lang="en-US" altLang="ko-KR" dirty="0"/>
                  <a:t>~</a:t>
                </a:r>
                <a:r>
                  <a:rPr lang="ko-KR" altLang="en-US" dirty="0"/>
                  <a:t>④</a:t>
                </a:r>
                <a:r>
                  <a:rPr lang="en-US" altLang="ko-KR" dirty="0"/>
                  <a:t>)</a:t>
                </a:r>
              </a:p>
              <a:p>
                <a:pPr marL="800100" lvl="1" indent="-342900">
                  <a:buFont typeface="+mj-ea"/>
                  <a:buAutoNum type="circleNumDbPlain"/>
                </a:pPr>
                <a:r>
                  <a:rPr lang="en-US" altLang="ko-KR" dirty="0"/>
                  <a:t>N-step </a:t>
                </a:r>
                <a:r>
                  <a:rPr lang="ko-KR" altLang="en-US" dirty="0"/>
                  <a:t>데이터 수집</a:t>
                </a:r>
                <a:r>
                  <a:rPr lang="en-US" altLang="ko-KR" dirty="0"/>
                  <a:t>(rollout)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~</m:t>
                    </m:r>
                    <m:d>
                      <m:dPr>
                        <m:begChr m:val="{"/>
                        <m:endChr m:val="}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dirty="0"/>
              </a:p>
              <a:p>
                <a:pPr marL="800100" lvl="1" indent="-342900">
                  <a:buFont typeface="+mj-lt"/>
                  <a:buAutoNum type="circleNumDbPlain"/>
                </a:pPr>
                <a:r>
                  <a:rPr lang="en-US" altLang="ko-KR" dirty="0"/>
                  <a:t>Critic Update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𝑀𝑆𝐸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dirty="0"/>
              </a:p>
              <a:p>
                <a:pPr marL="800100" lvl="1" indent="-342900">
                  <a:buFont typeface="+mj-lt"/>
                  <a:buAutoNum type="circleNumDbPlain"/>
                </a:pPr>
                <a:r>
                  <a:rPr lang="en-US" altLang="ko-KR" dirty="0"/>
                  <a:t>Actor Update </a:t>
                </a: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marL="800100" lvl="1" indent="-342900">
                  <a:buFont typeface="+mj-ea"/>
                  <a:buAutoNum type="circleNumDbPlain"/>
                </a:pPr>
                <a:r>
                  <a:rPr lang="en-US" altLang="ko-KR" dirty="0"/>
                  <a:t>Clear rollout</a:t>
                </a:r>
                <a:endParaRPr lang="ko-KR" alt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297DF5-1461-A6F3-78A1-6FB2F4CCB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774" y="3637547"/>
                <a:ext cx="7586953" cy="1754326"/>
              </a:xfrm>
              <a:prstGeom prst="rect">
                <a:avLst/>
              </a:prstGeom>
              <a:blipFill>
                <a:blip r:embed="rId3"/>
                <a:stretch>
                  <a:fillRect l="-803" t="-3114" b="-553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74A4A86-9B56-14E4-D403-6BAEEFAA7E09}"/>
              </a:ext>
            </a:extLst>
          </p:cNvPr>
          <p:cNvSpPr txBox="1"/>
          <p:nvPr/>
        </p:nvSpPr>
        <p:spPr>
          <a:xfrm>
            <a:off x="1351773" y="3268215"/>
            <a:ext cx="75869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A2C Algorithm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019917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6424A-4E58-F4E6-C13D-F7610FB74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91F7B2-67B7-C4F6-FB19-8F1CD2800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Ⅲ. A2C, A3C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0BA3AA-F3FF-4FA7-7ECF-D72F78611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b="1" dirty="0"/>
              <a:t>A3C : Asynchronous Advantage Actor-Critic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dirty="0"/>
              <a:t>원래 </a:t>
            </a:r>
            <a:r>
              <a:rPr lang="en-US" altLang="ko-KR" dirty="0"/>
              <a:t>A3C</a:t>
            </a:r>
            <a:r>
              <a:rPr lang="ko-KR" altLang="en-US" dirty="0"/>
              <a:t>가 먼저 발표</a:t>
            </a:r>
            <a:endParaRPr lang="en-US" altLang="ko-K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dirty="0"/>
              <a:t>A3C </a:t>
            </a:r>
            <a:r>
              <a:rPr lang="ko-KR" altLang="en-US" dirty="0"/>
              <a:t>내용 중 </a:t>
            </a:r>
            <a:r>
              <a:rPr lang="en-US" altLang="ko-KR" dirty="0"/>
              <a:t>A2C </a:t>
            </a:r>
            <a:r>
              <a:rPr lang="ko-KR" altLang="en-US" dirty="0"/>
              <a:t>내용 포함</a:t>
            </a:r>
            <a:endParaRPr lang="en-US" altLang="ko-K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dirty="0"/>
              <a:t>A3C</a:t>
            </a:r>
            <a:r>
              <a:rPr lang="ko-KR" altLang="en-US" dirty="0"/>
              <a:t>는 여러 </a:t>
            </a:r>
            <a:r>
              <a:rPr lang="en-US" altLang="ko-KR" dirty="0"/>
              <a:t>agent</a:t>
            </a:r>
            <a:r>
              <a:rPr lang="ko-KR" altLang="en-US" dirty="0"/>
              <a:t>가 여러 환경에서 </a:t>
            </a:r>
            <a:r>
              <a:rPr lang="en-US" altLang="ko-KR" dirty="0"/>
              <a:t>(</a:t>
            </a:r>
            <a:r>
              <a:rPr lang="ko-KR" altLang="en-US" dirty="0"/>
              <a:t>비동기</a:t>
            </a:r>
            <a:r>
              <a:rPr lang="en-US" altLang="ko-KR" dirty="0"/>
              <a:t>) </a:t>
            </a:r>
            <a:r>
              <a:rPr lang="ko-KR" altLang="en-US" dirty="0"/>
              <a:t>병렬 처리</a:t>
            </a:r>
            <a:endParaRPr lang="en-US" altLang="ko-KR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ko-KR" altLang="en-US" dirty="0"/>
              <a:t>덕분에 </a:t>
            </a:r>
            <a:r>
              <a:rPr lang="en-US" altLang="ko-KR" dirty="0"/>
              <a:t>data </a:t>
            </a:r>
            <a:r>
              <a:rPr lang="ko-KR" altLang="en-US" dirty="0"/>
              <a:t>사이 </a:t>
            </a:r>
            <a:r>
              <a:rPr lang="en-US" altLang="ko-KR" dirty="0"/>
              <a:t>correlation </a:t>
            </a:r>
            <a:r>
              <a:rPr lang="ko-KR" altLang="en-US" dirty="0"/>
              <a:t>완화</a:t>
            </a:r>
            <a:endParaRPr lang="en-US" altLang="ko-K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dirty="0"/>
              <a:t>이후 </a:t>
            </a:r>
            <a:r>
              <a:rPr lang="en-US" altLang="ko-KR" dirty="0"/>
              <a:t>A2C </a:t>
            </a:r>
            <a:r>
              <a:rPr lang="ko-KR" altLang="en-US" dirty="0"/>
              <a:t>이름으로 </a:t>
            </a:r>
            <a:r>
              <a:rPr lang="en-US" altLang="ko-KR" dirty="0"/>
              <a:t>(</a:t>
            </a:r>
            <a:r>
              <a:rPr lang="ko-KR" altLang="en-US" dirty="0"/>
              <a:t>동기</a:t>
            </a:r>
            <a:r>
              <a:rPr lang="en-US" altLang="ko-KR" dirty="0"/>
              <a:t>) </a:t>
            </a:r>
            <a:r>
              <a:rPr lang="ko-KR" altLang="en-US" dirty="0"/>
              <a:t>병렬 처리 버전 등장</a:t>
            </a:r>
            <a:endParaRPr lang="en-US" altLang="ko-KR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ko-KR" dirty="0"/>
              <a:t>A3C</a:t>
            </a:r>
            <a:r>
              <a:rPr lang="ko-KR" altLang="en-US" dirty="0"/>
              <a:t>는 잘 </a:t>
            </a:r>
            <a:r>
              <a:rPr lang="ko-KR" altLang="en-US" dirty="0" err="1"/>
              <a:t>안쓰이게</a:t>
            </a:r>
            <a:r>
              <a:rPr lang="ko-KR" altLang="en-US" dirty="0"/>
              <a:t> 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3A221A-BB29-5BC9-DC0E-851CC7015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D6F1-E034-4063-A5F1-77C8142C54C5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pic>
        <p:nvPicPr>
          <p:cNvPr id="1026" name="Picture 2" descr="Actor-Critic Methods: A2C and A3C in Reinforcement Learning | by Neural pAi  | Medium">
            <a:extLst>
              <a:ext uri="{FF2B5EF4-FFF2-40B4-BE49-F238E27FC236}">
                <a16:creationId xmlns:a16="http://schemas.microsoft.com/office/drawing/2014/main" id="{950C1FC9-3D36-B383-8FD3-530C5EECF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9798" y="2454836"/>
            <a:ext cx="5402752" cy="3913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2510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8EDA6-93A0-9A3F-8E7E-B03108131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BA809-012A-36CF-1BF1-C6EB4F79D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/>
              <a:t>목차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B2909F-15EC-9EA3-249F-0860FA331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romanUcPeriod"/>
            </a:pP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</a:rPr>
              <a:t>Policy-based RL </a:t>
            </a:r>
            <a:r>
              <a:rPr lang="ko-KR" altLang="en-US" b="1" dirty="0">
                <a:solidFill>
                  <a:schemeClr val="bg1">
                    <a:lumMod val="75000"/>
                  </a:schemeClr>
                </a:solidFill>
              </a:rPr>
              <a:t>소개</a:t>
            </a:r>
            <a:endParaRPr lang="en-US" altLang="ko-KR" b="1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buFont typeface="+mj-lt"/>
              <a:buAutoNum type="romanUcPeriod"/>
            </a:pP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</a:rPr>
              <a:t>REINFORCE</a:t>
            </a:r>
          </a:p>
          <a:p>
            <a:pPr>
              <a:buFont typeface="+mj-lt"/>
              <a:buAutoNum type="romanUcPeriod"/>
            </a:pP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</a:rPr>
              <a:t>A2C, A3C</a:t>
            </a:r>
          </a:p>
          <a:p>
            <a:pPr>
              <a:buFont typeface="+mj-lt"/>
              <a:buAutoNum type="romanUcPeriod"/>
            </a:pPr>
            <a:r>
              <a:rPr lang="en-US" altLang="ko-KR" b="1" dirty="0"/>
              <a:t>PPO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9D7CC0-EBE8-A6CC-B155-6F30D2CEC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D6F1-E034-4063-A5F1-77C8142C54C5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3145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083DD-36F8-D2D2-338B-2BCAC93B6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ACA2BD-3AA8-A32F-82B1-7B3BBD67A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Ⅳ. PPO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0E2B40-F1B5-D158-7035-9A95CE66B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b="1" dirty="0"/>
              <a:t>(JC </a:t>
            </a:r>
            <a:r>
              <a:rPr lang="ko-KR" altLang="en-US" b="1" dirty="0"/>
              <a:t>자료로 대체</a:t>
            </a:r>
            <a:r>
              <a:rPr lang="en-US" altLang="ko-KR" b="1" dirty="0"/>
              <a:t>)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E7F928-23C2-81F0-2E0E-4D1AF8F03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D6F1-E034-4063-A5F1-77C8142C54C5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1165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25705</TotalTime>
  <Words>862</Words>
  <Application>Microsoft Office PowerPoint</Application>
  <PresentationFormat>와이드스크린</PresentationFormat>
  <Paragraphs>174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Wingdings</vt:lpstr>
      <vt:lpstr>Cambria Math</vt:lpstr>
      <vt:lpstr>Arial</vt:lpstr>
      <vt:lpstr>맑은 고딕</vt:lpstr>
      <vt:lpstr>Office 테마</vt:lpstr>
      <vt:lpstr>PowerPoint 프레젠테이션</vt:lpstr>
      <vt:lpstr>목차</vt:lpstr>
      <vt:lpstr>목차</vt:lpstr>
      <vt:lpstr>Ⅰ. Policy-based RL 소개</vt:lpstr>
      <vt:lpstr>Ⅰ. Policy-based RL 소개</vt:lpstr>
      <vt:lpstr>Ⅰ. Policy-based RL 소개</vt:lpstr>
      <vt:lpstr>목차</vt:lpstr>
      <vt:lpstr>Ⅱ. REINFORCE</vt:lpstr>
      <vt:lpstr>Ⅱ. REINFORCE</vt:lpstr>
      <vt:lpstr>목차</vt:lpstr>
      <vt:lpstr>Ⅲ. A2C, A3C</vt:lpstr>
      <vt:lpstr>Ⅲ. A2C, A3C</vt:lpstr>
      <vt:lpstr>Ⅲ. A2C, A3C</vt:lpstr>
      <vt:lpstr>목차</vt:lpstr>
      <vt:lpstr>Ⅳ. PPO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255</cp:revision>
  <dcterms:created xsi:type="dcterms:W3CDTF">2023-03-15T10:24:42Z</dcterms:created>
  <dcterms:modified xsi:type="dcterms:W3CDTF">2025-06-23T16:38:04Z</dcterms:modified>
</cp:coreProperties>
</file>